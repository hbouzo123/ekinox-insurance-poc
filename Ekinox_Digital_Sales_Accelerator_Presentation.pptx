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365760"/>
          </a:xfrm>
          <a:prstGeom prst="rect">
            <a:avLst/>
          </a:prstGeom>
          <a:noFill/>
        </p:spPr>
        <p:txBody>
          <a:bodyPr wrap="none">
            <a:spAutoFit/>
          </a:bodyPr>
          <a:lstStyle/>
          <a:p>
            <a:pPr>
              <a:defRPr sz="1100" b="1">
                <a:solidFill>
                  <a:srgbClr val="0D9488"/>
                </a:solidFill>
                <a:latin typeface="Arial"/>
              </a:defRPr>
            </a:pPr>
            <a:r>
              <a:t>EKINOX INSURANCE PLATFORM</a:t>
            </a:r>
          </a:p>
        </p:txBody>
      </p:sp>
      <p:sp>
        <p:nvSpPr>
          <p:cNvPr id="4" name="TextBox 3"/>
          <p:cNvSpPr txBox="1"/>
          <p:nvPr/>
        </p:nvSpPr>
        <p:spPr>
          <a:xfrm>
            <a:off x="914400" y="2194560"/>
            <a:ext cx="10332720" cy="1645920"/>
          </a:xfrm>
          <a:prstGeom prst="rect">
            <a:avLst/>
          </a:prstGeom>
          <a:noFill/>
        </p:spPr>
        <p:txBody>
          <a:bodyPr wrap="square">
            <a:spAutoFit/>
          </a:bodyPr>
          <a:lstStyle/>
          <a:p>
            <a:pPr>
              <a:defRPr sz="4000" b="1">
                <a:solidFill>
                  <a:srgbClr val="FFFFFF"/>
                </a:solidFill>
                <a:latin typeface="Arial"/>
              </a:defRPr>
            </a:pPr>
            <a:r>
              <a:t>Digital Sales Accelerator</a:t>
            </a:r>
          </a:p>
        </p:txBody>
      </p:sp>
      <p:sp>
        <p:nvSpPr>
          <p:cNvPr id="5" name="TextBox 4"/>
          <p:cNvSpPr txBox="1"/>
          <p:nvPr/>
        </p:nvSpPr>
        <p:spPr>
          <a:xfrm>
            <a:off x="914400" y="3840480"/>
            <a:ext cx="10332720" cy="731520"/>
          </a:xfrm>
          <a:prstGeom prst="rect">
            <a:avLst/>
          </a:prstGeom>
          <a:noFill/>
        </p:spPr>
        <p:txBody>
          <a:bodyPr wrap="square">
            <a:spAutoFit/>
          </a:bodyPr>
          <a:lstStyle/>
          <a:p>
            <a:pPr>
              <a:defRPr sz="1600" i="1">
                <a:solidFill>
                  <a:srgbClr val="F9FAFB"/>
                </a:solidFill>
                <a:latin typeface="Arial"/>
              </a:defRPr>
            </a:pPr>
            <a:r>
              <a:t>Transformer l'acquisition commerciale de SanlamAllianz via une plateforme autonome</a:t>
            </a:r>
          </a:p>
        </p:txBody>
      </p:sp>
      <p:sp>
        <p:nvSpPr>
          <p:cNvPr id="6" name="Rectangle 5"/>
          <p:cNvSpPr/>
          <p:nvPr/>
        </p:nvSpPr>
        <p:spPr>
          <a:xfrm>
            <a:off x="914400" y="4754880"/>
            <a:ext cx="27432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03520"/>
            <a:ext cx="10332720" cy="914400"/>
          </a:xfrm>
          <a:prstGeom prst="rect">
            <a:avLst/>
          </a:prstGeom>
          <a:noFill/>
        </p:spPr>
        <p:txBody>
          <a:bodyPr wrap="none">
            <a:spAutoFit/>
          </a:bodyPr>
          <a:lstStyle/>
          <a:p>
            <a:pPr>
              <a:defRPr sz="1100">
                <a:solidFill>
                  <a:srgbClr val="F9FAFB"/>
                </a:solidFill>
                <a:latin typeface="Calibri"/>
              </a:defRPr>
            </a:pPr>
            <a:r>
              <a:t>Destinataire : COMEX SanlamAllianz Group</a:t>
            </a:r>
            <a:br/>
            <a:r>
              <a:t>Date : Juillet 2026  |  Statut : STRICTEMENT CONFIDENTIEL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1. Alignement Stratégique &amp; Positionnement</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2</a:t>
            </a:r>
          </a:p>
        </p:txBody>
      </p:sp>
      <p:sp>
        <p:nvSpPr>
          <p:cNvPr id="7" name="TextBox 6"/>
          <p:cNvSpPr txBox="1"/>
          <p:nvPr/>
        </p:nvSpPr>
        <p:spPr>
          <a:xfrm>
            <a:off x="548640" y="1645920"/>
            <a:ext cx="5303520" cy="4114800"/>
          </a:xfrm>
          <a:prstGeom prst="rect">
            <a:avLst/>
          </a:prstGeom>
          <a:noFill/>
        </p:spPr>
        <p:txBody>
          <a:bodyPr wrap="square" lIns="0" tIns="0" bIns="0" rIns="0">
            <a:spAutoFit/>
          </a:bodyPr>
          <a:lstStyle/>
          <a:p>
            <a:pPr>
              <a:lnSpc>
                <a:spcPct val="120000"/>
              </a:lnSpc>
              <a:spcAft>
                <a:spcPts val="1400"/>
              </a:spcAft>
              <a:defRPr sz="1300">
                <a:solidFill>
                  <a:srgbClr val="1F2937"/>
                </a:solidFill>
                <a:latin typeface="Arial"/>
              </a:defRPr>
            </a:pPr>
            <a:r>
              <a:t>SanlamAllianz doit faire évoluer sa capacité d'acquisition client.</a:t>
            </a:r>
          </a:p>
          <a:p>
            <a:pPr>
              <a:lnSpc>
                <a:spcPct val="120000"/>
              </a:lnSpc>
              <a:spcAft>
                <a:spcPts val="1400"/>
              </a:spcAft>
              <a:defRPr sz="1300">
                <a:solidFill>
                  <a:srgbClr val="1F2937"/>
                </a:solidFill>
                <a:latin typeface="Arial"/>
              </a:defRPr>
            </a:pPr>
            <a:r>
              <a:t>Plutôt que d'intégrer des chatbots isolés ou d'engager d'importants budgets de refonte CRM, le Digital Sales Accelerator permet de déployer un parcours omnicanal performant, découplé du Core Insurance pour une activation immédiate.</a:t>
            </a:r>
          </a:p>
        </p:txBody>
      </p:sp>
      <p:sp>
        <p:nvSpPr>
          <p:cNvPr id="8" name="Rectangle 7"/>
          <p:cNvSpPr/>
          <p:nvPr/>
        </p:nvSpPr>
        <p:spPr>
          <a:xfrm>
            <a:off x="6339535" y="1645920"/>
            <a:ext cx="5303520" cy="11887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39535" y="1645920"/>
            <a:ext cx="64008" cy="1188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783080"/>
            <a:ext cx="4937760" cy="914400"/>
          </a:xfrm>
          <a:prstGeom prst="rect">
            <a:avLst/>
          </a:prstGeom>
          <a:noFill/>
        </p:spPr>
        <p:txBody>
          <a:bodyPr wrap="square">
            <a:spAutoFit/>
          </a:bodyPr>
          <a:lstStyle/>
          <a:p>
            <a:pPr>
              <a:spcAft>
                <a:spcPts val="400"/>
              </a:spcAft>
              <a:defRPr sz="1100" b="1">
                <a:solidFill>
                  <a:srgbClr val="86318E"/>
                </a:solidFill>
                <a:latin typeface="Arial"/>
              </a:defRPr>
            </a:pPr>
            <a:r>
              <a:t>PRODUCTIVITÉ COMMERCIALE</a:t>
            </a:r>
          </a:p>
          <a:p>
            <a:pPr>
              <a:lnSpc>
                <a:spcPct val="110000"/>
              </a:lnSpc>
              <a:defRPr sz="1000">
                <a:solidFill>
                  <a:srgbClr val="1F2937"/>
                </a:solidFill>
                <a:latin typeface="Calibri"/>
              </a:defRPr>
            </a:pPr>
            <a:r>
              <a:t>Qualification automatique des dossiers prospects avant transmission aux conseillers.</a:t>
            </a:r>
          </a:p>
        </p:txBody>
      </p:sp>
      <p:sp>
        <p:nvSpPr>
          <p:cNvPr id="11" name="Rectangle 10"/>
          <p:cNvSpPr/>
          <p:nvPr/>
        </p:nvSpPr>
        <p:spPr>
          <a:xfrm>
            <a:off x="6339535" y="3108960"/>
            <a:ext cx="5303520" cy="11887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39535" y="3108960"/>
            <a:ext cx="64008" cy="1188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3246120"/>
            <a:ext cx="4937760" cy="914400"/>
          </a:xfrm>
          <a:prstGeom prst="rect">
            <a:avLst/>
          </a:prstGeom>
          <a:noFill/>
        </p:spPr>
        <p:txBody>
          <a:bodyPr wrap="square">
            <a:spAutoFit/>
          </a:bodyPr>
          <a:lstStyle/>
          <a:p>
            <a:pPr>
              <a:spcAft>
                <a:spcPts val="400"/>
              </a:spcAft>
              <a:defRPr sz="1100" b="1">
                <a:solidFill>
                  <a:srgbClr val="86318E"/>
                </a:solidFill>
                <a:latin typeface="Arial"/>
              </a:defRPr>
            </a:pPr>
            <a:r>
              <a:t>EXPÉRIENCE OMNICANALE</a:t>
            </a:r>
          </a:p>
          <a:p>
            <a:pPr>
              <a:lnSpc>
                <a:spcPct val="110000"/>
              </a:lnSpc>
              <a:defRPr sz="1000">
                <a:solidFill>
                  <a:srgbClr val="1F2937"/>
                </a:solidFill>
                <a:latin typeface="Calibri"/>
              </a:defRPr>
            </a:pPr>
            <a:r>
              <a:t>Convergence immédiate de tous les canaux (WhatsApp, Meta, Web, SMS) vers un seul flux d'onboarding.</a:t>
            </a:r>
          </a:p>
        </p:txBody>
      </p:sp>
      <p:sp>
        <p:nvSpPr>
          <p:cNvPr id="14" name="Rectangle 13"/>
          <p:cNvSpPr/>
          <p:nvPr/>
        </p:nvSpPr>
        <p:spPr>
          <a:xfrm>
            <a:off x="6339535" y="4572000"/>
            <a:ext cx="5303520" cy="11887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9535" y="4572000"/>
            <a:ext cx="64008" cy="1188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709160"/>
            <a:ext cx="4937760" cy="914400"/>
          </a:xfrm>
          <a:prstGeom prst="rect">
            <a:avLst/>
          </a:prstGeom>
          <a:noFill/>
        </p:spPr>
        <p:txBody>
          <a:bodyPr wrap="square">
            <a:spAutoFit/>
          </a:bodyPr>
          <a:lstStyle/>
          <a:p>
            <a:pPr>
              <a:spcAft>
                <a:spcPts val="400"/>
              </a:spcAft>
              <a:defRPr sz="1100" b="1">
                <a:solidFill>
                  <a:srgbClr val="86318E"/>
                </a:solidFill>
                <a:latin typeface="Arial"/>
              </a:defRPr>
            </a:pPr>
            <a:r>
              <a:t>ROI &amp; CAC OPTIMISÉ</a:t>
            </a:r>
          </a:p>
          <a:p>
            <a:pPr>
              <a:lnSpc>
                <a:spcPct val="110000"/>
              </a:lnSpc>
              <a:defRPr sz="1000">
                <a:solidFill>
                  <a:srgbClr val="1F2937"/>
                </a:solidFill>
                <a:latin typeface="Calibri"/>
              </a:defRPr>
            </a:pPr>
            <a:r>
              <a:t>Réduction substantielle du CAC (Coût d'Acquisition Client) et hausse nette du taux de conversion.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2. Product Blueprint &amp; Principes Directeurs</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3</a:t>
            </a:r>
          </a:p>
        </p:txBody>
      </p:sp>
      <p:sp>
        <p:nvSpPr>
          <p:cNvPr id="7" name="TextBox 6"/>
          <p:cNvSpPr txBox="1"/>
          <p:nvPr/>
        </p:nvSpPr>
        <p:spPr>
          <a:xfrm>
            <a:off x="548640" y="1371600"/>
            <a:ext cx="11094415" cy="457200"/>
          </a:xfrm>
          <a:prstGeom prst="rect">
            <a:avLst/>
          </a:prstGeom>
          <a:noFill/>
        </p:spPr>
        <p:txBody>
          <a:bodyPr wrap="none" lIns="0" tIns="0" bIns="0" rIns="0">
            <a:spAutoFit/>
          </a:bodyPr>
          <a:lstStyle/>
          <a:p>
            <a:pPr>
              <a:defRPr sz="1100" i="1">
                <a:solidFill>
                  <a:srgbClr val="1F2937"/>
                </a:solidFill>
                <a:latin typeface="Calibri"/>
              </a:defRPr>
            </a:pPr>
            <a:r>
              <a:t>Le développement du MVP est régi par six principes fondamentaux garantissant la création rapide de valeur métier sans verrous techniques.</a:t>
            </a:r>
          </a:p>
        </p:txBody>
      </p:sp>
      <p:sp>
        <p:nvSpPr>
          <p:cNvPr id="8" name="Rectangle 7"/>
          <p:cNvSpPr/>
          <p:nvPr/>
        </p:nvSpPr>
        <p:spPr>
          <a:xfrm>
            <a:off x="548640" y="1920240"/>
            <a:ext cx="3520440" cy="201168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0240"/>
            <a:ext cx="54864" cy="201168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3291840" cy="1737360"/>
          </a:xfrm>
          <a:prstGeom prst="rect">
            <a:avLst/>
          </a:prstGeom>
          <a:noFill/>
        </p:spPr>
        <p:txBody>
          <a:bodyPr wrap="square">
            <a:spAutoFit/>
          </a:bodyPr>
          <a:lstStyle/>
          <a:p>
            <a:pPr>
              <a:spcAft>
                <a:spcPts val="800"/>
              </a:spcAft>
              <a:defRPr sz="1150" b="1">
                <a:solidFill>
                  <a:srgbClr val="86318E"/>
                </a:solidFill>
                <a:latin typeface="Arial"/>
              </a:defRPr>
            </a:pPr>
            <a:r>
              <a:t>BUSINESS FIRST</a:t>
            </a:r>
          </a:p>
          <a:p>
            <a:pPr>
              <a:lnSpc>
                <a:spcPct val="110000"/>
              </a:lnSpc>
              <a:defRPr sz="1000">
                <a:solidFill>
                  <a:srgbClr val="1F2937"/>
                </a:solidFill>
                <a:latin typeface="Calibri"/>
              </a:defRPr>
            </a:pPr>
            <a:r>
              <a:t>Chaque fonctionnalité développée doit démontrer un impact direct sur le taux de conversion ou le coût d'acquisition.</a:t>
            </a:r>
          </a:p>
        </p:txBody>
      </p:sp>
      <p:sp>
        <p:nvSpPr>
          <p:cNvPr id="11" name="Rectangle 10"/>
          <p:cNvSpPr/>
          <p:nvPr/>
        </p:nvSpPr>
        <p:spPr>
          <a:xfrm>
            <a:off x="4334256" y="1920240"/>
            <a:ext cx="3520440" cy="201168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1920240"/>
            <a:ext cx="54864"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1416" y="2057400"/>
            <a:ext cx="3291840" cy="1737360"/>
          </a:xfrm>
          <a:prstGeom prst="rect">
            <a:avLst/>
          </a:prstGeom>
          <a:noFill/>
        </p:spPr>
        <p:txBody>
          <a:bodyPr wrap="square">
            <a:spAutoFit/>
          </a:bodyPr>
          <a:lstStyle/>
          <a:p>
            <a:pPr>
              <a:spcAft>
                <a:spcPts val="800"/>
              </a:spcAft>
              <a:defRPr sz="1150" b="1">
                <a:solidFill>
                  <a:srgbClr val="0D9488"/>
                </a:solidFill>
                <a:latin typeface="Arial"/>
              </a:defRPr>
            </a:pPr>
            <a:r>
              <a:t>API-READY</a:t>
            </a:r>
          </a:p>
          <a:p>
            <a:pPr>
              <a:lnSpc>
                <a:spcPct val="110000"/>
              </a:lnSpc>
              <a:defRPr sz="1000">
                <a:solidFill>
                  <a:srgbClr val="1F2937"/>
                </a:solidFill>
                <a:latin typeface="Calibri"/>
              </a:defRPr>
            </a:pPr>
            <a:r>
              <a:t>Architecture modulaire conçue pour s'intégrer de manière transparente avec les canaux de distribution existants et futurs.</a:t>
            </a:r>
          </a:p>
        </p:txBody>
      </p:sp>
      <p:sp>
        <p:nvSpPr>
          <p:cNvPr id="14" name="Rectangle 13"/>
          <p:cNvSpPr/>
          <p:nvPr/>
        </p:nvSpPr>
        <p:spPr>
          <a:xfrm>
            <a:off x="8119872" y="1920240"/>
            <a:ext cx="3520440" cy="201168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19872" y="1920240"/>
            <a:ext cx="54864" cy="201168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2" y="2057400"/>
            <a:ext cx="3291840" cy="1737360"/>
          </a:xfrm>
          <a:prstGeom prst="rect">
            <a:avLst/>
          </a:prstGeom>
          <a:noFill/>
        </p:spPr>
        <p:txBody>
          <a:bodyPr wrap="square">
            <a:spAutoFit/>
          </a:bodyPr>
          <a:lstStyle/>
          <a:p>
            <a:pPr>
              <a:spcAft>
                <a:spcPts val="800"/>
              </a:spcAft>
              <a:defRPr sz="1150" b="1">
                <a:solidFill>
                  <a:srgbClr val="86318E"/>
                </a:solidFill>
                <a:latin typeface="Arial"/>
              </a:defRPr>
            </a:pPr>
            <a:r>
              <a:t>MVP BY DESIGN</a:t>
            </a:r>
          </a:p>
          <a:p>
            <a:pPr>
              <a:lnSpc>
                <a:spcPct val="110000"/>
              </a:lnSpc>
              <a:defRPr sz="1000">
                <a:solidFill>
                  <a:srgbClr val="1F2937"/>
                </a:solidFill>
                <a:latin typeface="Calibri"/>
              </a:defRPr>
            </a:pPr>
            <a:r>
              <a:t>Lancement rapide avec un périmètre restreint pour valider la traction commerciale avant complexification technique.</a:t>
            </a:r>
          </a:p>
        </p:txBody>
      </p:sp>
      <p:sp>
        <p:nvSpPr>
          <p:cNvPr id="17" name="Rectangle 16"/>
          <p:cNvSpPr/>
          <p:nvPr/>
        </p:nvSpPr>
        <p:spPr>
          <a:xfrm>
            <a:off x="548640" y="4160520"/>
            <a:ext cx="3520440" cy="201168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60520"/>
            <a:ext cx="54864"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97680"/>
            <a:ext cx="3291840" cy="1737360"/>
          </a:xfrm>
          <a:prstGeom prst="rect">
            <a:avLst/>
          </a:prstGeom>
          <a:noFill/>
        </p:spPr>
        <p:txBody>
          <a:bodyPr wrap="square">
            <a:spAutoFit/>
          </a:bodyPr>
          <a:lstStyle/>
          <a:p>
            <a:pPr>
              <a:spcAft>
                <a:spcPts val="800"/>
              </a:spcAft>
              <a:defRPr sz="1150" b="1">
                <a:solidFill>
                  <a:srgbClr val="0D9488"/>
                </a:solidFill>
                <a:latin typeface="Arial"/>
              </a:defRPr>
            </a:pPr>
            <a:r>
              <a:t>AI AS AN ENABLER</a:t>
            </a:r>
          </a:p>
          <a:p>
            <a:pPr>
              <a:lnSpc>
                <a:spcPct val="110000"/>
              </a:lnSpc>
              <a:defRPr sz="1000">
                <a:solidFill>
                  <a:srgbClr val="1F2937"/>
                </a:solidFill>
                <a:latin typeface="Calibri"/>
              </a:defRPr>
            </a:pPr>
            <a:r>
              <a:t>L'Intelligence Artificielle opère en coulisse pour augmenter les capacités de vente sans interférer avec l'expérience utilisateur naturelle.</a:t>
            </a:r>
          </a:p>
        </p:txBody>
      </p:sp>
      <p:sp>
        <p:nvSpPr>
          <p:cNvPr id="20" name="Rectangle 19"/>
          <p:cNvSpPr/>
          <p:nvPr/>
        </p:nvSpPr>
        <p:spPr>
          <a:xfrm>
            <a:off x="4334256" y="4160520"/>
            <a:ext cx="3520440" cy="201168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34256" y="4160520"/>
            <a:ext cx="54864" cy="201168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1416" y="4297680"/>
            <a:ext cx="3291840" cy="1737360"/>
          </a:xfrm>
          <a:prstGeom prst="rect">
            <a:avLst/>
          </a:prstGeom>
          <a:noFill/>
        </p:spPr>
        <p:txBody>
          <a:bodyPr wrap="square">
            <a:spAutoFit/>
          </a:bodyPr>
          <a:lstStyle/>
          <a:p>
            <a:pPr>
              <a:spcAft>
                <a:spcPts val="800"/>
              </a:spcAft>
              <a:defRPr sz="1150" b="1">
                <a:solidFill>
                  <a:srgbClr val="86318E"/>
                </a:solidFill>
                <a:latin typeface="Arial"/>
              </a:defRPr>
            </a:pPr>
            <a:r>
              <a:t>EXPLAINABILITY BY DEFAULT</a:t>
            </a:r>
          </a:p>
          <a:p>
            <a:pPr>
              <a:lnSpc>
                <a:spcPct val="110000"/>
              </a:lnSpc>
              <a:defRPr sz="1000">
                <a:solidFill>
                  <a:srgbClr val="1F2937"/>
                </a:solidFill>
                <a:latin typeface="Calibri"/>
              </a:defRPr>
            </a:pPr>
            <a:r>
              <a:t>Toute recommandation produit est justifiée par les besoins exprimés par le client, garantissant transparence et conformité.</a:t>
            </a:r>
          </a:p>
        </p:txBody>
      </p:sp>
      <p:sp>
        <p:nvSpPr>
          <p:cNvPr id="23" name="Rectangle 22"/>
          <p:cNvSpPr/>
          <p:nvPr/>
        </p:nvSpPr>
        <p:spPr>
          <a:xfrm>
            <a:off x="8119872" y="4160520"/>
            <a:ext cx="3520440" cy="201168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19872" y="4160520"/>
            <a:ext cx="54864"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7032" y="4297680"/>
            <a:ext cx="3291840" cy="1737360"/>
          </a:xfrm>
          <a:prstGeom prst="rect">
            <a:avLst/>
          </a:prstGeom>
          <a:noFill/>
        </p:spPr>
        <p:txBody>
          <a:bodyPr wrap="square">
            <a:spAutoFit/>
          </a:bodyPr>
          <a:lstStyle/>
          <a:p>
            <a:pPr>
              <a:spcAft>
                <a:spcPts val="800"/>
              </a:spcAft>
              <a:defRPr sz="1150" b="1">
                <a:solidFill>
                  <a:srgbClr val="0D9488"/>
                </a:solidFill>
                <a:latin typeface="Arial"/>
              </a:defRPr>
            </a:pPr>
            <a:r>
              <a:t>SCALABLE PLATFORM</a:t>
            </a:r>
          </a:p>
          <a:p>
            <a:pPr>
              <a:lnSpc>
                <a:spcPct val="110000"/>
              </a:lnSpc>
              <a:defRPr sz="1000">
                <a:solidFill>
                  <a:srgbClr val="1F2937"/>
                </a:solidFill>
                <a:latin typeface="Calibri"/>
              </a:defRPr>
            </a:pPr>
            <a:r>
              <a:t>Fondations techniques prêtes à absorber une montée en charge massive des interactions omnicanales sans dégradation de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3. Architecture Technique &amp; Socle Commun</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4</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ARCHITECTURE ORIENTÉE ÉVÉNEMENTS</a:t>
            </a:r>
          </a:p>
          <a:p>
            <a:pPr>
              <a:lnSpc>
                <a:spcPct val="115000"/>
              </a:lnSpc>
              <a:spcAft>
                <a:spcPts val="800"/>
              </a:spcAft>
              <a:defRPr sz="1100">
                <a:solidFill>
                  <a:srgbClr val="1F2937"/>
                </a:solidFill>
                <a:latin typeface="Calibri"/>
              </a:defRPr>
            </a:pPr>
            <a:r>
              <a:t>Une plateforme orientée micro-services, orchestrant les interactions multicanales via une couche d'intelligence centralisée.</a:t>
            </a:r>
          </a:p>
          <a:p>
            <a:pPr>
              <a:lnSpc>
                <a:spcPct val="115000"/>
              </a:lnSpc>
              <a:spcAft>
                <a:spcPts val="800"/>
              </a:spcAft>
              <a:defRPr sz="1100">
                <a:solidFill>
                  <a:srgbClr val="1F2937"/>
                </a:solidFill>
                <a:latin typeface="Calibri"/>
              </a:defRPr>
            </a:pPr>
            <a:r>
              <a:t>Intégration SI : Connexion asynchrone aux systèmes legacy pour éviter les goulots d'étranglement en phase de devis.</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COMPOSANTS TECHNOLOGIQUES CLÉS</a:t>
            </a:r>
          </a:p>
          <a:p>
            <a:pPr>
              <a:lnSpc>
                <a:spcPct val="110000"/>
              </a:lnSpc>
              <a:spcAft>
                <a:spcPts val="600"/>
              </a:spcAft>
              <a:defRPr sz="1050">
                <a:solidFill>
                  <a:srgbClr val="1F2937"/>
                </a:solidFill>
                <a:latin typeface="Calibri"/>
              </a:defRPr>
            </a:pPr>
            <a:r>
              <a:t>Moteur de dialogue cognitif, Référentiel de produits décentralisé, Hub omnicanal de messagerie, Base de connaissances unifiée.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4.1 Capacité : Acquisition Omnicanale</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5</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Être présent là où se trouvent vos futurs clients, en fluidifiant le point d'entrée.</a:t>
            </a:r>
          </a:p>
          <a:p>
            <a:pPr>
              <a:lnSpc>
                <a:spcPct val="115000"/>
              </a:lnSpc>
              <a:spcAft>
                <a:spcPts val="800"/>
              </a:spcAft>
              <a:defRPr sz="1100">
                <a:solidFill>
                  <a:srgbClr val="1F2937"/>
                </a:solidFill>
                <a:latin typeface="Calibri"/>
              </a:defRPr>
            </a:pPr>
            <a:r>
              <a:t>Valeur Métier :</a:t>
            </a:r>
            <a:br/>
            <a:r>
              <a:t>Capte les prospects sur leurs canaux favoris (réseaux sociaux, messagerie, web) avec une expérience unifiée.</a:t>
            </a:r>
          </a:p>
          <a:p>
            <a:pPr>
              <a:lnSpc>
                <a:spcPct val="115000"/>
              </a:lnSpc>
              <a:spcAft>
                <a:spcPts val="800"/>
              </a:spcAft>
              <a:defRPr sz="1100">
                <a:solidFill>
                  <a:srgbClr val="1F2937"/>
                </a:solidFill>
                <a:latin typeface="Calibri"/>
              </a:defRPr>
            </a:pPr>
            <a:r>
              <a:t>Parcours Prospect :</a:t>
            </a:r>
            <a:br/>
            <a:r>
              <a:t>Un prospect scanne un QR code sur une affiche publicitaire et démarre instantanément une conversation WhatsApp avec SanlamAllianz.</a:t>
            </a:r>
          </a:p>
          <a:p>
            <a:pPr>
              <a:lnSpc>
                <a:spcPct val="115000"/>
              </a:lnSpc>
              <a:spcAft>
                <a:spcPts val="800"/>
              </a:spcAft>
              <a:defRPr sz="1100">
                <a:solidFill>
                  <a:srgbClr val="1F2937"/>
                </a:solidFill>
                <a:latin typeface="Calibri"/>
              </a:defRPr>
            </a:pPr>
            <a:r>
              <a:t>Impact Utilisateur :</a:t>
            </a:r>
            <a:br/>
            <a:r>
              <a:t>Réduction drastique de la friction à l'entrée et augmentation du volume de leads qualifiés.</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URL des campagnes, configurations des canaux sociaux.</a:t>
            </a:r>
          </a:p>
          <a:p>
            <a:pPr>
              <a:lnSpc>
                <a:spcPct val="110000"/>
              </a:lnSpc>
              <a:spcAft>
                <a:spcPts val="600"/>
              </a:spcAft>
              <a:defRPr sz="1050">
                <a:solidFill>
                  <a:srgbClr val="1F2937"/>
                </a:solidFill>
                <a:latin typeface="Calibri"/>
              </a:defRPr>
            </a:pPr>
            <a:r>
              <a:t>Stack Technique MVP :</a:t>
            </a:r>
            <a:br/>
            <a:r>
              <a:t>Connecteurs Webhooks, API Graph Meta, API WhatsApp Business.</a:t>
            </a:r>
          </a:p>
          <a:p>
            <a:pPr>
              <a:lnSpc>
                <a:spcPct val="110000"/>
              </a:lnSpc>
              <a:spcAft>
                <a:spcPts val="600"/>
              </a:spcAft>
              <a:defRPr sz="1050">
                <a:solidFill>
                  <a:srgbClr val="1F2937"/>
                </a:solidFill>
                <a:latin typeface="Calibri"/>
              </a:defRPr>
            </a:pPr>
            <a:r>
              <a:t>APIs &amp; Services :</a:t>
            </a:r>
            <a:br/>
            <a:r>
              <a:t>Gateway omnicanale.</a:t>
            </a:r>
          </a:p>
          <a:p>
            <a:pPr>
              <a:lnSpc>
                <a:spcPct val="110000"/>
              </a:lnSpc>
              <a:spcAft>
                <a:spcPts val="600"/>
              </a:spcAft>
              <a:defRPr sz="1050">
                <a:solidFill>
                  <a:srgbClr val="1F2937"/>
                </a:solidFill>
                <a:latin typeface="Calibri"/>
              </a:defRPr>
            </a:pPr>
            <a:r>
              <a:t>Étapes Clés de Développement :</a:t>
            </a:r>
            <a:br/>
            <a:r>
              <a:t>Configuration des endpoints, gestion du routage des messages entrants, normalisation des payloads.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4.2 Capacité : Digital Sales Assistant</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6</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Un conseiller d'assurance digital, disponible 24/7 pour qualifier et guider le prospect.</a:t>
            </a:r>
          </a:p>
          <a:p>
            <a:pPr>
              <a:lnSpc>
                <a:spcPct val="115000"/>
              </a:lnSpc>
              <a:spcAft>
                <a:spcPts val="800"/>
              </a:spcAft>
              <a:defRPr sz="1100">
                <a:solidFill>
                  <a:srgbClr val="1F2937"/>
                </a:solidFill>
                <a:latin typeface="Calibri"/>
              </a:defRPr>
            </a:pPr>
            <a:r>
              <a:t>Valeur Métier :</a:t>
            </a:r>
            <a:br/>
            <a:r>
              <a:t>Automatise la découverte des besoins du client par une conversation naturelle et empathique.</a:t>
            </a:r>
          </a:p>
          <a:p>
            <a:pPr>
              <a:lnSpc>
                <a:spcPct val="115000"/>
              </a:lnSpc>
              <a:spcAft>
                <a:spcPts val="800"/>
              </a:spcAft>
              <a:defRPr sz="1100">
                <a:solidFill>
                  <a:srgbClr val="1F2937"/>
                </a:solidFill>
                <a:latin typeface="Calibri"/>
              </a:defRPr>
            </a:pPr>
            <a:r>
              <a:t>Parcours Prospect :</a:t>
            </a:r>
            <a:br/>
            <a:r>
              <a:t>Le prospect exprime son besoin d'assurance automobile, l'assistant pose 3 questions clés pour cerner le profil de conducteur.</a:t>
            </a:r>
          </a:p>
          <a:p>
            <a:pPr>
              <a:lnSpc>
                <a:spcPct val="115000"/>
              </a:lnSpc>
              <a:spcAft>
                <a:spcPts val="800"/>
              </a:spcAft>
              <a:defRPr sz="1100">
                <a:solidFill>
                  <a:srgbClr val="1F2937"/>
                </a:solidFill>
                <a:latin typeface="Calibri"/>
              </a:defRPr>
            </a:pPr>
            <a:r>
              <a:t>Impact Utilisateur :</a:t>
            </a:r>
            <a:br/>
            <a:r>
              <a:t>Une expérience d'avant-vente personnalisée, sans temps d'attente.</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Arbres de décision métier, scripts de conversation, ton de voix de la marque.</a:t>
            </a:r>
          </a:p>
          <a:p>
            <a:pPr>
              <a:lnSpc>
                <a:spcPct val="110000"/>
              </a:lnSpc>
              <a:spcAft>
                <a:spcPts val="600"/>
              </a:spcAft>
              <a:defRPr sz="1050">
                <a:solidFill>
                  <a:srgbClr val="1F2937"/>
                </a:solidFill>
                <a:latin typeface="Calibri"/>
              </a:defRPr>
            </a:pPr>
            <a:r>
              <a:t>Stack Technique MVP :</a:t>
            </a:r>
            <a:br/>
            <a:r>
              <a:t>Moteur NLP, gestionnaire d'état de dialogue.</a:t>
            </a:r>
          </a:p>
          <a:p>
            <a:pPr>
              <a:lnSpc>
                <a:spcPct val="110000"/>
              </a:lnSpc>
              <a:spcAft>
                <a:spcPts val="600"/>
              </a:spcAft>
              <a:defRPr sz="1050">
                <a:solidFill>
                  <a:srgbClr val="1F2937"/>
                </a:solidFill>
                <a:latin typeface="Calibri"/>
              </a:defRPr>
            </a:pPr>
            <a:r>
              <a:t>APIs &amp; Services :</a:t>
            </a:r>
            <a:br/>
            <a:r>
              <a:t>Endpoint de NLP as a Service, API de contexte conversationnel.</a:t>
            </a:r>
          </a:p>
          <a:p>
            <a:pPr>
              <a:lnSpc>
                <a:spcPct val="110000"/>
              </a:lnSpc>
              <a:spcAft>
                <a:spcPts val="600"/>
              </a:spcAft>
              <a:defRPr sz="1050">
                <a:solidFill>
                  <a:srgbClr val="1F2937"/>
                </a:solidFill>
                <a:latin typeface="Calibri"/>
              </a:defRPr>
            </a:pPr>
            <a:r>
              <a:t>Étapes Clés de Développement :</a:t>
            </a:r>
            <a:br/>
            <a:r>
              <a:t>Entraînement sur les intentions, définition des entités à extraire, paramétrage des fallbacks.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4.3 Capacité : Product Advisor</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7</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La bonne offre, pour le bon profil, au bon moment.</a:t>
            </a:r>
          </a:p>
          <a:p>
            <a:pPr>
              <a:lnSpc>
                <a:spcPct val="115000"/>
              </a:lnSpc>
              <a:spcAft>
                <a:spcPts val="800"/>
              </a:spcAft>
              <a:defRPr sz="1100">
                <a:solidFill>
                  <a:srgbClr val="1F2937"/>
                </a:solidFill>
                <a:latin typeface="Calibri"/>
              </a:defRPr>
            </a:pPr>
            <a:r>
              <a:t>Valeur Métier :</a:t>
            </a:r>
            <a:br/>
            <a:r>
              <a:t>Recommande dynamiquement les produits d'assurance les plus pertinents basés sur le contexte du client.</a:t>
            </a:r>
          </a:p>
          <a:p>
            <a:pPr>
              <a:lnSpc>
                <a:spcPct val="115000"/>
              </a:lnSpc>
              <a:spcAft>
                <a:spcPts val="800"/>
              </a:spcAft>
              <a:defRPr sz="1100">
                <a:solidFill>
                  <a:srgbClr val="1F2937"/>
                </a:solidFill>
                <a:latin typeface="Calibri"/>
              </a:defRPr>
            </a:pPr>
            <a:r>
              <a:t>Parcours Prospect :</a:t>
            </a:r>
            <a:br/>
            <a:r>
              <a:t>L'assistant suggère une offre Tous Risques avec option bris de glace suite à l'analyse des réponses du prospect.</a:t>
            </a:r>
          </a:p>
          <a:p>
            <a:pPr>
              <a:lnSpc>
                <a:spcPct val="115000"/>
              </a:lnSpc>
              <a:spcAft>
                <a:spcPts val="800"/>
              </a:spcAft>
              <a:defRPr sz="1100">
                <a:solidFill>
                  <a:srgbClr val="1F2937"/>
                </a:solidFill>
                <a:latin typeface="Calibri"/>
              </a:defRPr>
            </a:pPr>
            <a:r>
              <a:t>Impact Utilisateur :</a:t>
            </a:r>
            <a:br/>
            <a:r>
              <a:t>Augmentation de la pertinence de l'offre et du taux de conversion, sentiment d'être compris.</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Catalogue produits simplifié, règles de recommandation métier, grilles tarifaires indicatives.</a:t>
            </a:r>
          </a:p>
          <a:p>
            <a:pPr>
              <a:lnSpc>
                <a:spcPct val="110000"/>
              </a:lnSpc>
              <a:spcAft>
                <a:spcPts val="600"/>
              </a:spcAft>
              <a:defRPr sz="1050">
                <a:solidFill>
                  <a:srgbClr val="1F2937"/>
                </a:solidFill>
                <a:latin typeface="Calibri"/>
              </a:defRPr>
            </a:pPr>
            <a:r>
              <a:t>Stack Technique MVP :</a:t>
            </a:r>
            <a:br/>
            <a:r>
              <a:t>Moteur de règles métier léger, moteur d'inférence statique.</a:t>
            </a:r>
          </a:p>
          <a:p>
            <a:pPr>
              <a:lnSpc>
                <a:spcPct val="110000"/>
              </a:lnSpc>
              <a:spcAft>
                <a:spcPts val="600"/>
              </a:spcAft>
              <a:defRPr sz="1050">
                <a:solidFill>
                  <a:srgbClr val="1F2937"/>
                </a:solidFill>
                <a:latin typeface="Calibri"/>
              </a:defRPr>
            </a:pPr>
            <a:r>
              <a:t>APIs &amp; Services :</a:t>
            </a:r>
            <a:br/>
            <a:r>
              <a:t>API de recommandation produit (mockup interne pour le MVP).</a:t>
            </a:r>
          </a:p>
          <a:p>
            <a:pPr>
              <a:lnSpc>
                <a:spcPct val="110000"/>
              </a:lnSpc>
              <a:spcAft>
                <a:spcPts val="600"/>
              </a:spcAft>
              <a:defRPr sz="1050">
                <a:solidFill>
                  <a:srgbClr val="1F2937"/>
                </a:solidFill>
                <a:latin typeface="Calibri"/>
              </a:defRPr>
            </a:pPr>
            <a:r>
              <a:t>Étapes Clés de Développement :</a:t>
            </a:r>
            <a:br/>
            <a:r>
              <a:t>Digitalisation du catalogue produit (format JSON/NoSQL), implémentation de l'algorithme de matching produit/besoin.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4.4 Capacité : Knowledge Hub Assurance</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8</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L'expertise métier SanlamAllianz infusée dans chaque interaction.</a:t>
            </a:r>
          </a:p>
          <a:p>
            <a:pPr>
              <a:lnSpc>
                <a:spcPct val="115000"/>
              </a:lnSpc>
              <a:spcAft>
                <a:spcPts val="800"/>
              </a:spcAft>
              <a:defRPr sz="1100">
                <a:solidFill>
                  <a:srgbClr val="1F2937"/>
                </a:solidFill>
                <a:latin typeface="Calibri"/>
              </a:defRPr>
            </a:pPr>
            <a:r>
              <a:t>Valeur Métier :</a:t>
            </a:r>
            <a:br/>
            <a:r>
              <a:t>Répond instantanément à toute question technique sur les garanties, exclusions et conditions.</a:t>
            </a:r>
          </a:p>
          <a:p>
            <a:pPr>
              <a:lnSpc>
                <a:spcPct val="115000"/>
              </a:lnSpc>
              <a:spcAft>
                <a:spcPts val="800"/>
              </a:spcAft>
              <a:defRPr sz="1100">
                <a:solidFill>
                  <a:srgbClr val="1F2937"/>
                </a:solidFill>
                <a:latin typeface="Calibri"/>
              </a:defRPr>
            </a:pPr>
            <a:r>
              <a:t>Parcours Prospect :</a:t>
            </a:r>
            <a:br/>
            <a:r>
              <a:t>Le prospect demande si les dommages causés par la grêle sont couverts ; l'assistant répond avec précision en citant les conditions générales.</a:t>
            </a:r>
          </a:p>
          <a:p>
            <a:pPr>
              <a:lnSpc>
                <a:spcPct val="115000"/>
              </a:lnSpc>
              <a:spcAft>
                <a:spcPts val="800"/>
              </a:spcAft>
              <a:defRPr sz="1100">
                <a:solidFill>
                  <a:srgbClr val="1F2937"/>
                </a:solidFill>
                <a:latin typeface="Calibri"/>
              </a:defRPr>
            </a:pPr>
            <a:r>
              <a:t>Impact Utilisateur :</a:t>
            </a:r>
            <a:br/>
            <a:r>
              <a:t>Réassurance immédiate du client face à la complexité des contrats d'assurance.</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Fichiers PDF des conditions générales, conditions particulières, FAQ, manuels produits.</a:t>
            </a:r>
          </a:p>
          <a:p>
            <a:pPr>
              <a:lnSpc>
                <a:spcPct val="110000"/>
              </a:lnSpc>
              <a:spcAft>
                <a:spcPts val="600"/>
              </a:spcAft>
              <a:defRPr sz="1050">
                <a:solidFill>
                  <a:srgbClr val="1F2937"/>
                </a:solidFill>
                <a:latin typeface="Calibri"/>
              </a:defRPr>
            </a:pPr>
            <a:r>
              <a:t>Stack Technique MVP :</a:t>
            </a:r>
            <a:br/>
            <a:r>
              <a:t>Moteur d'ingestion documentaire, indexation sémantique, base vectorielle (usage interne).</a:t>
            </a:r>
          </a:p>
          <a:p>
            <a:pPr>
              <a:lnSpc>
                <a:spcPct val="110000"/>
              </a:lnSpc>
              <a:spcAft>
                <a:spcPts val="600"/>
              </a:spcAft>
              <a:defRPr sz="1050">
                <a:solidFill>
                  <a:srgbClr val="1F2937"/>
                </a:solidFill>
                <a:latin typeface="Calibri"/>
              </a:defRPr>
            </a:pPr>
            <a:r>
              <a:t>APIs &amp; Services :</a:t>
            </a:r>
            <a:br/>
            <a:r>
              <a:t>API de recherche documentaire interne.</a:t>
            </a:r>
          </a:p>
          <a:p>
            <a:pPr>
              <a:lnSpc>
                <a:spcPct val="110000"/>
              </a:lnSpc>
              <a:spcAft>
                <a:spcPts val="600"/>
              </a:spcAft>
              <a:defRPr sz="1050">
                <a:solidFill>
                  <a:srgbClr val="1F2937"/>
                </a:solidFill>
                <a:latin typeface="Calibri"/>
              </a:defRPr>
            </a:pPr>
            <a:r>
              <a:t>Étapes Clés de Développement :</a:t>
            </a:r>
            <a:br/>
            <a:r>
              <a:t>Parsing des PDF, nettoyage du texte, création des index de recherche, évaluation de la précision des réponses.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4.5 Capacité : Préparation du dossier de souscription</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9</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L'onboarding client rendu simple, rapide et sans effort.</a:t>
            </a:r>
          </a:p>
          <a:p>
            <a:pPr>
              <a:lnSpc>
                <a:spcPct val="115000"/>
              </a:lnSpc>
              <a:spcAft>
                <a:spcPts val="800"/>
              </a:spcAft>
              <a:defRPr sz="1100">
                <a:solidFill>
                  <a:srgbClr val="1F2937"/>
                </a:solidFill>
                <a:latin typeface="Calibri"/>
              </a:defRPr>
            </a:pPr>
            <a:r>
              <a:t>Valeur Métier :</a:t>
            </a:r>
            <a:br/>
            <a:r>
              <a:t>Collecte proactive et intelligente des données nécessaires à la création du contrat.</a:t>
            </a:r>
          </a:p>
          <a:p>
            <a:pPr>
              <a:lnSpc>
                <a:spcPct val="115000"/>
              </a:lnSpc>
              <a:spcAft>
                <a:spcPts val="800"/>
              </a:spcAft>
              <a:defRPr sz="1100">
                <a:solidFill>
                  <a:srgbClr val="1F2937"/>
                </a:solidFill>
                <a:latin typeface="Calibri"/>
              </a:defRPr>
            </a:pPr>
            <a:r>
              <a:t>Parcours Prospect :</a:t>
            </a:r>
            <a:br/>
            <a:r>
              <a:t>L'assistant guide le client pas-à-pas pour fournir son nom, adresse et informations du véhicule.</a:t>
            </a:r>
          </a:p>
          <a:p>
            <a:pPr>
              <a:lnSpc>
                <a:spcPct val="115000"/>
              </a:lnSpc>
              <a:spcAft>
                <a:spcPts val="800"/>
              </a:spcAft>
              <a:defRPr sz="1100">
                <a:solidFill>
                  <a:srgbClr val="1F2937"/>
                </a:solidFill>
                <a:latin typeface="Calibri"/>
              </a:defRPr>
            </a:pPr>
            <a:r>
              <a:t>Impact Utilisateur :</a:t>
            </a:r>
            <a:br/>
            <a:r>
              <a:t>Réduction du taux d'abandon en phase de finalisation du devis.</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Dictionnaire de données client, liste des champs obligatoires par produit.</a:t>
            </a:r>
          </a:p>
          <a:p>
            <a:pPr>
              <a:lnSpc>
                <a:spcPct val="110000"/>
              </a:lnSpc>
              <a:spcAft>
                <a:spcPts val="600"/>
              </a:spcAft>
              <a:defRPr sz="1050">
                <a:solidFill>
                  <a:srgbClr val="1F2937"/>
                </a:solidFill>
                <a:latin typeface="Calibri"/>
              </a:defRPr>
            </a:pPr>
            <a:r>
              <a:t>Stack Technique MVP :</a:t>
            </a:r>
            <a:br/>
            <a:r>
              <a:t>Formulaires conversationnels, validateurs de données dynamiques.</a:t>
            </a:r>
          </a:p>
          <a:p>
            <a:pPr>
              <a:lnSpc>
                <a:spcPct val="110000"/>
              </a:lnSpc>
              <a:spcAft>
                <a:spcPts val="600"/>
              </a:spcAft>
              <a:defRPr sz="1050">
                <a:solidFill>
                  <a:srgbClr val="1F2937"/>
                </a:solidFill>
                <a:latin typeface="Calibri"/>
              </a:defRPr>
            </a:pPr>
            <a:r>
              <a:t>APIs &amp; Services :</a:t>
            </a:r>
            <a:br/>
            <a:r>
              <a:t>API de soumission de données de pré-souscription.</a:t>
            </a:r>
          </a:p>
          <a:p>
            <a:pPr>
              <a:lnSpc>
                <a:spcPct val="110000"/>
              </a:lnSpc>
              <a:spcAft>
                <a:spcPts val="600"/>
              </a:spcAft>
              <a:defRPr sz="1050">
                <a:solidFill>
                  <a:srgbClr val="1F2937"/>
                </a:solidFill>
                <a:latin typeface="Calibri"/>
              </a:defRPr>
            </a:pPr>
            <a:r>
              <a:t>Étapes Clés de Développement :</a:t>
            </a:r>
            <a:br/>
            <a:r>
              <a:t>Définition des flux de collecte, implémentation des contrôles de saisie (email, téléphone, dates).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4.6 Capacité : Gestion documentaire (upload des pièces)</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10</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La fin des allers-retours administratifs fastidieux.</a:t>
            </a:r>
          </a:p>
          <a:p>
            <a:pPr>
              <a:lnSpc>
                <a:spcPct val="115000"/>
              </a:lnSpc>
              <a:spcAft>
                <a:spcPts val="800"/>
              </a:spcAft>
              <a:defRPr sz="1100">
                <a:solidFill>
                  <a:srgbClr val="1F2937"/>
                </a:solidFill>
                <a:latin typeface="Calibri"/>
              </a:defRPr>
            </a:pPr>
            <a:r>
              <a:t>Valeur Métier :</a:t>
            </a:r>
            <a:br/>
            <a:r>
              <a:t>Permet au client de transmettre ses justificatifs directement dans le fil de la conversation.</a:t>
            </a:r>
          </a:p>
          <a:p>
            <a:pPr>
              <a:lnSpc>
                <a:spcPct val="115000"/>
              </a:lnSpc>
              <a:spcAft>
                <a:spcPts val="800"/>
              </a:spcAft>
              <a:defRPr sz="1100">
                <a:solidFill>
                  <a:srgbClr val="1F2937"/>
                </a:solidFill>
                <a:latin typeface="Calibri"/>
              </a:defRPr>
            </a:pPr>
            <a:r>
              <a:t>Parcours Prospect :</a:t>
            </a:r>
            <a:br/>
            <a:r>
              <a:t>Le client prend en photo sa carte grise et son permis de conduire avec son smartphone et l'envoie via WhatsApp.</a:t>
            </a:r>
          </a:p>
          <a:p>
            <a:pPr>
              <a:lnSpc>
                <a:spcPct val="115000"/>
              </a:lnSpc>
              <a:spcAft>
                <a:spcPts val="800"/>
              </a:spcAft>
              <a:defRPr sz="1100">
                <a:solidFill>
                  <a:srgbClr val="1F2937"/>
                </a:solidFill>
                <a:latin typeface="Calibri"/>
              </a:defRPr>
            </a:pPr>
            <a:r>
              <a:t>Impact Utilisateur :</a:t>
            </a:r>
            <a:br/>
            <a:r>
              <a:t>Un parcours 100% digitalisé, gain de temps considérable pour finaliser le contrat.</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Liste des documents requis, règles de validation de format (PDF, JPG, PNG).</a:t>
            </a:r>
          </a:p>
          <a:p>
            <a:pPr>
              <a:lnSpc>
                <a:spcPct val="110000"/>
              </a:lnSpc>
              <a:spcAft>
                <a:spcPts val="600"/>
              </a:spcAft>
              <a:defRPr sz="1050">
                <a:solidFill>
                  <a:srgbClr val="1F2937"/>
                </a:solidFill>
                <a:latin typeface="Calibri"/>
              </a:defRPr>
            </a:pPr>
            <a:r>
              <a:t>Stack Technique MVP :</a:t>
            </a:r>
            <a:br/>
            <a:r>
              <a:t>Service de stockage cloud sécurisé, analyseur de pièces jointes.</a:t>
            </a:r>
          </a:p>
          <a:p>
            <a:pPr>
              <a:lnSpc>
                <a:spcPct val="110000"/>
              </a:lnSpc>
              <a:spcAft>
                <a:spcPts val="600"/>
              </a:spcAft>
              <a:defRPr sz="1050">
                <a:solidFill>
                  <a:srgbClr val="1F2937"/>
                </a:solidFill>
                <a:latin typeface="Calibri"/>
              </a:defRPr>
            </a:pPr>
            <a:r>
              <a:t>APIs &amp; Services :</a:t>
            </a:r>
            <a:br/>
            <a:r>
              <a:t>API d'upload de documents, API de webhook média.</a:t>
            </a:r>
          </a:p>
          <a:p>
            <a:pPr>
              <a:lnSpc>
                <a:spcPct val="110000"/>
              </a:lnSpc>
              <a:spcAft>
                <a:spcPts val="600"/>
              </a:spcAft>
              <a:defRPr sz="1050">
                <a:solidFill>
                  <a:srgbClr val="1F2937"/>
                </a:solidFill>
                <a:latin typeface="Calibri"/>
              </a:defRPr>
            </a:pPr>
            <a:r>
              <a:t>Étapes Clés de Développement :</a:t>
            </a:r>
            <a:br/>
            <a:r>
              <a:t>Intégration du flux média des canaux sociaux, sécurisation du stockage transitoire, association des pièces au dossier prospect.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4.7 Capacité : Rendez-vous &amp; Handover vers un conseiller</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11</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Le meilleur des deux mondes : la vélocité du digital et l'empathie de l'humain.</a:t>
            </a:r>
          </a:p>
          <a:p>
            <a:pPr>
              <a:lnSpc>
                <a:spcPct val="115000"/>
              </a:lnSpc>
              <a:spcAft>
                <a:spcPts val="800"/>
              </a:spcAft>
              <a:defRPr sz="1100">
                <a:solidFill>
                  <a:srgbClr val="1F2937"/>
                </a:solidFill>
                <a:latin typeface="Calibri"/>
              </a:defRPr>
            </a:pPr>
            <a:r>
              <a:t>Valeur Métier :</a:t>
            </a:r>
            <a:br/>
            <a:r>
              <a:t>Transfère intelligemment la conversation à un agent humain lorsque la situation l'exige ou pour finaliser la vente.</a:t>
            </a:r>
          </a:p>
          <a:p>
            <a:pPr>
              <a:lnSpc>
                <a:spcPct val="115000"/>
              </a:lnSpc>
              <a:spcAft>
                <a:spcPts val="800"/>
              </a:spcAft>
              <a:defRPr sz="1100">
                <a:solidFill>
                  <a:srgbClr val="1F2937"/>
                </a:solidFill>
                <a:latin typeface="Calibri"/>
              </a:defRPr>
            </a:pPr>
            <a:r>
              <a:t>Parcours Prospect :</a:t>
            </a:r>
            <a:br/>
            <a:r>
              <a:t>Le client souhaite négocier le tarif ; l'assistant passe le relais à un conseiller qui reprend le contexte complet de la conversation.</a:t>
            </a:r>
          </a:p>
          <a:p>
            <a:pPr>
              <a:lnSpc>
                <a:spcPct val="115000"/>
              </a:lnSpc>
              <a:spcAft>
                <a:spcPts val="800"/>
              </a:spcAft>
              <a:defRPr sz="1100">
                <a:solidFill>
                  <a:srgbClr val="1F2937"/>
                </a:solidFill>
                <a:latin typeface="Calibri"/>
              </a:defRPr>
            </a:pPr>
            <a:r>
              <a:t>Impact Utilisateur :</a:t>
            </a:r>
            <a:br/>
            <a:r>
              <a:t>Aucune rupture dans l'expérience client, pas besoin de répéter ses informations.</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Disponibilité des agents, règles de routage (par produit, par canal).</a:t>
            </a:r>
          </a:p>
          <a:p>
            <a:pPr>
              <a:lnSpc>
                <a:spcPct val="110000"/>
              </a:lnSpc>
              <a:spcAft>
                <a:spcPts val="600"/>
              </a:spcAft>
              <a:defRPr sz="1050">
                <a:solidFill>
                  <a:srgbClr val="1F2937"/>
                </a:solidFill>
                <a:latin typeface="Calibri"/>
              </a:defRPr>
            </a:pPr>
            <a:r>
              <a:t>Stack Technique MVP :</a:t>
            </a:r>
            <a:br/>
            <a:r>
              <a:t>Système de routage de tickets, interface de supervision en temps réel.</a:t>
            </a:r>
          </a:p>
          <a:p>
            <a:pPr>
              <a:lnSpc>
                <a:spcPct val="110000"/>
              </a:lnSpc>
              <a:spcAft>
                <a:spcPts val="600"/>
              </a:spcAft>
              <a:defRPr sz="1050">
                <a:solidFill>
                  <a:srgbClr val="1F2937"/>
                </a:solidFill>
                <a:latin typeface="Calibri"/>
              </a:defRPr>
            </a:pPr>
            <a:r>
              <a:t>APIs &amp; Services :</a:t>
            </a:r>
            <a:br/>
            <a:r>
              <a:t>API de prise de rendez-vous (calendrier), API de handover.</a:t>
            </a:r>
          </a:p>
          <a:p>
            <a:pPr>
              <a:lnSpc>
                <a:spcPct val="110000"/>
              </a:lnSpc>
              <a:spcAft>
                <a:spcPts val="600"/>
              </a:spcAft>
              <a:defRPr sz="1050">
                <a:solidFill>
                  <a:srgbClr val="1F2937"/>
                </a:solidFill>
                <a:latin typeface="Calibri"/>
              </a:defRPr>
            </a:pPr>
            <a:r>
              <a:t>Étapes Clés de Développement :</a:t>
            </a:r>
            <a:br/>
            <a:r>
              <a:t>Développement de la logique d'escalade, intégration avec les outils de calendrier, préservation du contexte de session.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4.8 Capacité : Sales Workspace &amp; Base Prospects</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12</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CADRAGE CLIENT &amp; VALEUR MÉTIER</a:t>
            </a:r>
          </a:p>
          <a:p>
            <a:pPr>
              <a:lnSpc>
                <a:spcPct val="115000"/>
              </a:lnSpc>
              <a:spcAft>
                <a:spcPts val="800"/>
              </a:spcAft>
              <a:defRPr sz="1100">
                <a:solidFill>
                  <a:srgbClr val="1F2937"/>
                </a:solidFill>
                <a:latin typeface="Calibri"/>
              </a:defRPr>
            </a:pPr>
            <a:r>
              <a:t>Vision &amp; Objectif :</a:t>
            </a:r>
            <a:br/>
            <a:r>
              <a:t>Un pilotage commercial réinventé pour maximiser chaque opportunité.</a:t>
            </a:r>
          </a:p>
          <a:p>
            <a:pPr>
              <a:lnSpc>
                <a:spcPct val="115000"/>
              </a:lnSpc>
              <a:spcAft>
                <a:spcPts val="800"/>
              </a:spcAft>
              <a:defRPr sz="1100">
                <a:solidFill>
                  <a:srgbClr val="1F2937"/>
                </a:solidFill>
                <a:latin typeface="Calibri"/>
              </a:defRPr>
            </a:pPr>
            <a:r>
              <a:t>Valeur Métier :</a:t>
            </a:r>
            <a:br/>
            <a:r>
              <a:t>Centralise la gestion des prospects et facilite les actions de relance pour les équipes de vente.</a:t>
            </a:r>
          </a:p>
          <a:p>
            <a:pPr>
              <a:lnSpc>
                <a:spcPct val="115000"/>
              </a:lnSpc>
              <a:spcAft>
                <a:spcPts val="800"/>
              </a:spcAft>
              <a:defRPr sz="1100">
                <a:solidFill>
                  <a:srgbClr val="1F2937"/>
                </a:solidFill>
                <a:latin typeface="Calibri"/>
              </a:defRPr>
            </a:pPr>
            <a:r>
              <a:t>Parcours Prospect :</a:t>
            </a:r>
            <a:br/>
            <a:r>
              <a:t>L'agent commercial accède à une vue unifiée de ses prospects chauds avec des suggestions de relance personnalisées.</a:t>
            </a:r>
          </a:p>
          <a:p>
            <a:pPr>
              <a:lnSpc>
                <a:spcPct val="115000"/>
              </a:lnSpc>
              <a:spcAft>
                <a:spcPts val="800"/>
              </a:spcAft>
              <a:defRPr sz="1100">
                <a:solidFill>
                  <a:srgbClr val="1F2937"/>
                </a:solidFill>
                <a:latin typeface="Calibri"/>
              </a:defRPr>
            </a:pPr>
            <a:r>
              <a:t>Impact Utilisateur :</a:t>
            </a:r>
            <a:br/>
            <a:r>
              <a:t>Une relation client suivie, personnalisée et proactive.</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FICHE IMPLÉMENTATION INTERNE (MVP)</a:t>
            </a:r>
          </a:p>
          <a:p>
            <a:pPr>
              <a:lnSpc>
                <a:spcPct val="110000"/>
              </a:lnSpc>
              <a:spcAft>
                <a:spcPts val="600"/>
              </a:spcAft>
              <a:defRPr sz="1050">
                <a:solidFill>
                  <a:srgbClr val="1F2937"/>
                </a:solidFill>
                <a:latin typeface="Calibri"/>
              </a:defRPr>
            </a:pPr>
            <a:r>
              <a:t>Données Nécessaires MVP :</a:t>
            </a:r>
            <a:br/>
            <a:r>
              <a:t>Données d'historique des prospects, statuts du pipeline (Nouveau, En cours, Gagné, Perdu).</a:t>
            </a:r>
          </a:p>
          <a:p>
            <a:pPr>
              <a:lnSpc>
                <a:spcPct val="110000"/>
              </a:lnSpc>
              <a:spcAft>
                <a:spcPts val="600"/>
              </a:spcAft>
              <a:defRPr sz="1050">
                <a:solidFill>
                  <a:srgbClr val="1F2937"/>
                </a:solidFill>
                <a:latin typeface="Calibri"/>
              </a:defRPr>
            </a:pPr>
            <a:r>
              <a:t>Stack Technique MVP :</a:t>
            </a:r>
            <a:br/>
            <a:r>
              <a:t>Application web front-end légère (SPA), base de données relationnelle (CRM light).</a:t>
            </a:r>
          </a:p>
          <a:p>
            <a:pPr>
              <a:lnSpc>
                <a:spcPct val="110000"/>
              </a:lnSpc>
              <a:spcAft>
                <a:spcPts val="600"/>
              </a:spcAft>
              <a:defRPr sz="1050">
                <a:solidFill>
                  <a:srgbClr val="1F2937"/>
                </a:solidFill>
                <a:latin typeface="Calibri"/>
              </a:defRPr>
            </a:pPr>
            <a:r>
              <a:t>APIs &amp; Services :</a:t>
            </a:r>
            <a:br/>
            <a:r>
              <a:t>API CRUD Prospects, API de tâches et relances.</a:t>
            </a:r>
          </a:p>
          <a:p>
            <a:pPr>
              <a:lnSpc>
                <a:spcPct val="110000"/>
              </a:lnSpc>
              <a:spcAft>
                <a:spcPts val="600"/>
              </a:spcAft>
              <a:defRPr sz="1050">
                <a:solidFill>
                  <a:srgbClr val="1F2937"/>
                </a:solidFill>
                <a:latin typeface="Calibri"/>
              </a:defRPr>
            </a:pPr>
            <a:r>
              <a:t>Étapes Clés de Développement :</a:t>
            </a:r>
            <a:br/>
            <a:r>
              <a:t>Modélisation de la base de données, développement des vues Kanban de pipeline, gestion des droits d'accès basiques.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5. Roadmap Produit &amp; Trajectoire de Maturité</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13</a:t>
            </a:r>
          </a:p>
        </p:txBody>
      </p:sp>
      <p:graphicFrame>
        <p:nvGraphicFramePr>
          <p:cNvPr id="7" name="Table 6"/>
          <p:cNvGraphicFramePr>
            <a:graphicFrameLocks noGrp="1"/>
          </p:cNvGraphicFramePr>
          <p:nvPr/>
        </p:nvGraphicFramePr>
        <p:xfrm>
          <a:off x="548640" y="1645920"/>
          <a:ext cx="11094415" cy="4114800"/>
        </p:xfrm>
        <a:graphic>
          <a:graphicData uri="http://schemas.openxmlformats.org/drawingml/2006/table">
            <a:tbl>
              <a:tblPr firstRow="1" bandRow="1">
                <a:tableStyleId>{5C22544A-7EE6-4342-B048-85BDC9FD1C3A}</a:tableStyleId>
              </a:tblPr>
              <a:tblGrid>
                <a:gridCol w="914400"/>
                <a:gridCol w="2286000"/>
                <a:gridCol w="4572000"/>
                <a:gridCol w="3322015"/>
              </a:tblGrid>
              <a:tr h="685800">
                <a:tc>
                  <a:txBody>
                    <a:bodyPr/>
                    <a:lstStyle/>
                    <a:p>
                      <a:pPr algn="l"/>
                      <a:r>
                        <a:rPr sz="1200" b="1">
                          <a:solidFill>
                            <a:srgbClr val="FFFFFF"/>
                          </a:solidFill>
                          <a:latin typeface="Arial"/>
                        </a:rPr>
                        <a:t>Phase</a:t>
                      </a:r>
                    </a:p>
                  </a:txBody>
                  <a:tcPr>
                    <a:solidFill>
                      <a:srgbClr val="86318E"/>
                    </a:solidFill>
                  </a:tcPr>
                </a:tc>
                <a:tc>
                  <a:txBody>
                    <a:bodyPr/>
                    <a:lstStyle/>
                    <a:p>
                      <a:pPr algn="l"/>
                      <a:r>
                        <a:rPr sz="1200" b="1">
                          <a:solidFill>
                            <a:srgbClr val="FFFFFF"/>
                          </a:solidFill>
                          <a:latin typeface="Arial"/>
                        </a:rPr>
                        <a:t>Accélérateur / Module</a:t>
                      </a:r>
                    </a:p>
                  </a:txBody>
                  <a:tcPr>
                    <a:solidFill>
                      <a:srgbClr val="86318E"/>
                    </a:solidFill>
                  </a:tcPr>
                </a:tc>
                <a:tc>
                  <a:txBody>
                    <a:bodyPr/>
                    <a:lstStyle/>
                    <a:p>
                      <a:pPr algn="l"/>
                      <a:r>
                        <a:rPr sz="1200" b="1">
                          <a:solidFill>
                            <a:srgbClr val="FFFFFF"/>
                          </a:solidFill>
                          <a:latin typeface="Arial"/>
                        </a:rPr>
                        <a:t>Périmètre Fonctionnel</a:t>
                      </a:r>
                    </a:p>
                  </a:txBody>
                  <a:tcPr>
                    <a:solidFill>
                      <a:srgbClr val="86318E"/>
                    </a:solidFill>
                  </a:tcPr>
                </a:tc>
                <a:tc>
                  <a:txBody>
                    <a:bodyPr/>
                    <a:lstStyle/>
                    <a:p>
                      <a:pPr algn="l"/>
                      <a:r>
                        <a:rPr sz="1200" b="1">
                          <a:solidFill>
                            <a:srgbClr val="FFFFFF"/>
                          </a:solidFill>
                          <a:latin typeface="Arial"/>
                        </a:rPr>
                        <a:t>Objectif Métier / Quick Win</a:t>
                      </a:r>
                    </a:p>
                  </a:txBody>
                  <a:tcPr>
                    <a:solidFill>
                      <a:srgbClr val="86318E"/>
                    </a:solidFill>
                  </a:tcPr>
                </a:tc>
              </a:tr>
              <a:tr h="685800">
                <a:tc>
                  <a:txBody>
                    <a:bodyPr/>
                    <a:lstStyle/>
                    <a:p>
                      <a:pPr algn="l"/>
                      <a:r>
                        <a:rPr sz="1050">
                          <a:solidFill>
                            <a:srgbClr val="1F2937"/>
                          </a:solidFill>
                          <a:latin typeface="Calibri"/>
                        </a:rPr>
                        <a:t>V1</a:t>
                      </a:r>
                    </a:p>
                  </a:txBody>
                  <a:tcPr>
                    <a:solidFill>
                      <a:srgbClr val="FFFFFF"/>
                    </a:solidFill>
                  </a:tcPr>
                </a:tc>
                <a:tc>
                  <a:txBody>
                    <a:bodyPr/>
                    <a:lstStyle/>
                    <a:p>
                      <a:pPr algn="l"/>
                      <a:r>
                        <a:rPr sz="1050">
                          <a:solidFill>
                            <a:srgbClr val="1F2937"/>
                          </a:solidFill>
                          <a:latin typeface="Calibri"/>
                        </a:rPr>
                        <a:t>Digital Sales Assistant</a:t>
                      </a:r>
                    </a:p>
                  </a:txBody>
                  <a:tcPr>
                    <a:solidFill>
                      <a:srgbClr val="FFFFFF"/>
                    </a:solidFill>
                  </a:tcPr>
                </a:tc>
                <a:tc>
                  <a:txBody>
                    <a:bodyPr/>
                    <a:lstStyle/>
                    <a:p>
                      <a:pPr algn="l"/>
                      <a:r>
                        <a:rPr sz="1050">
                          <a:solidFill>
                            <a:srgbClr val="1F2937"/>
                          </a:solidFill>
                          <a:latin typeface="Calibri"/>
                        </a:rPr>
                        <a:t>Smart Triage (Capacité 1) &amp; Nurturing (Capacité 6) sur produit simple Auto</a:t>
                      </a:r>
                    </a:p>
                  </a:txBody>
                  <a:tcPr>
                    <a:solidFill>
                      <a:srgbClr val="FFFFFF"/>
                    </a:solidFill>
                  </a:tcPr>
                </a:tc>
                <a:tc>
                  <a:txBody>
                    <a:bodyPr/>
                    <a:lstStyle/>
                    <a:p>
                      <a:pPr algn="l"/>
                      <a:r>
                        <a:rPr sz="1050">
                          <a:solidFill>
                            <a:srgbClr val="1F2937"/>
                          </a:solidFill>
                          <a:latin typeface="Calibri"/>
                        </a:rPr>
                        <a:t>ROI rapide, validation du canal WhatsApp</a:t>
                      </a:r>
                    </a:p>
                  </a:txBody>
                  <a:tcPr>
                    <a:solidFill>
                      <a:srgbClr val="FFFFFF"/>
                    </a:solidFill>
                  </a:tcPr>
                </a:tc>
              </a:tr>
              <a:tr h="685800">
                <a:tc>
                  <a:txBody>
                    <a:bodyPr/>
                    <a:lstStyle/>
                    <a:p>
                      <a:pPr algn="l"/>
                      <a:r>
                        <a:rPr sz="1050">
                          <a:solidFill>
                            <a:srgbClr val="1F2937"/>
                          </a:solidFill>
                          <a:latin typeface="Calibri"/>
                        </a:rPr>
                        <a:t>V2</a:t>
                      </a:r>
                    </a:p>
                  </a:txBody>
                  <a:tcPr>
                    <a:solidFill>
                      <a:srgbClr val="F9FAFB"/>
                    </a:solidFill>
                  </a:tcPr>
                </a:tc>
                <a:tc>
                  <a:txBody>
                    <a:bodyPr/>
                    <a:lstStyle/>
                    <a:p>
                      <a:pPr algn="l"/>
                      <a:r>
                        <a:rPr sz="1050">
                          <a:solidFill>
                            <a:srgbClr val="1F2937"/>
                          </a:solidFill>
                          <a:latin typeface="Calibri"/>
                        </a:rPr>
                        <a:t>Agent Copilot courtier</a:t>
                      </a:r>
                    </a:p>
                  </a:txBody>
                  <a:tcPr>
                    <a:solidFill>
                      <a:srgbClr val="F9FAFB"/>
                    </a:solidFill>
                  </a:tcPr>
                </a:tc>
                <a:tc>
                  <a:txBody>
                    <a:bodyPr/>
                    <a:lstStyle/>
                    <a:p>
                      <a:pPr algn="l"/>
                      <a:r>
                        <a:rPr sz="1050">
                          <a:solidFill>
                            <a:srgbClr val="1F2937"/>
                          </a:solidFill>
                          <a:latin typeface="Calibri"/>
                        </a:rPr>
                        <a:t>RAG &amp; Knowledge Hub (Capacité 4) pour le réseau d'agents physiques</a:t>
                      </a:r>
                    </a:p>
                  </a:txBody>
                  <a:tcPr>
                    <a:solidFill>
                      <a:srgbClr val="F9FAFB"/>
                    </a:solidFill>
                  </a:tcPr>
                </a:tc>
                <a:tc>
                  <a:txBody>
                    <a:bodyPr/>
                    <a:lstStyle/>
                    <a:p>
                      <a:pPr algn="l"/>
                      <a:r>
                        <a:rPr sz="1050">
                          <a:solidFill>
                            <a:srgbClr val="1F2937"/>
                          </a:solidFill>
                          <a:latin typeface="Calibri"/>
                        </a:rPr>
                        <a:t>Hausse de la productivité du réseau commercial</a:t>
                      </a:r>
                    </a:p>
                  </a:txBody>
                  <a:tcPr>
                    <a:solidFill>
                      <a:srgbClr val="F9FAFB"/>
                    </a:solidFill>
                  </a:tcPr>
                </a:tc>
              </a:tr>
              <a:tr h="685800">
                <a:tc>
                  <a:txBody>
                    <a:bodyPr/>
                    <a:lstStyle/>
                    <a:p>
                      <a:pPr algn="l"/>
                      <a:r>
                        <a:rPr sz="1050">
                          <a:solidFill>
                            <a:srgbClr val="1F2937"/>
                          </a:solidFill>
                          <a:latin typeface="Calibri"/>
                        </a:rPr>
                        <a:t>V3</a:t>
                      </a:r>
                    </a:p>
                  </a:txBody>
                  <a:tcPr>
                    <a:solidFill>
                      <a:srgbClr val="FFFFFF"/>
                    </a:solidFill>
                  </a:tcPr>
                </a:tc>
                <a:tc>
                  <a:txBody>
                    <a:bodyPr/>
                    <a:lstStyle/>
                    <a:p>
                      <a:pPr algn="l"/>
                      <a:r>
                        <a:rPr sz="1050">
                          <a:solidFill>
                            <a:srgbClr val="1F2937"/>
                          </a:solidFill>
                          <a:latin typeface="Calibri"/>
                        </a:rPr>
                        <a:t>Conseil &amp; Offres</a:t>
                      </a:r>
                    </a:p>
                  </a:txBody>
                  <a:tcPr>
                    <a:solidFill>
                      <a:srgbClr val="FFFFFF"/>
                    </a:solidFill>
                  </a:tcPr>
                </a:tc>
                <a:tc>
                  <a:txBody>
                    <a:bodyPr/>
                    <a:lstStyle/>
                    <a:p>
                      <a:pPr algn="l"/>
                      <a:r>
                        <a:rPr sz="1050">
                          <a:solidFill>
                            <a:srgbClr val="1F2937"/>
                          </a:solidFill>
                          <a:latin typeface="Calibri"/>
                        </a:rPr>
                        <a:t>Next Best Offer (Capacité 2) &amp; Product Advisor contextuel</a:t>
                      </a:r>
                    </a:p>
                  </a:txBody>
                  <a:tcPr>
                    <a:solidFill>
                      <a:srgbClr val="FFFFFF"/>
                    </a:solidFill>
                  </a:tcPr>
                </a:tc>
                <a:tc>
                  <a:txBody>
                    <a:bodyPr/>
                    <a:lstStyle/>
                    <a:p>
                      <a:pPr algn="l"/>
                      <a:r>
                        <a:rPr sz="1050">
                          <a:solidFill>
                            <a:srgbClr val="1F2937"/>
                          </a:solidFill>
                          <a:latin typeface="Calibri"/>
                        </a:rPr>
                        <a:t>Augmentation du panier moyen de vente</a:t>
                      </a:r>
                    </a:p>
                  </a:txBody>
                  <a:tcPr>
                    <a:solidFill>
                      <a:srgbClr val="FFFFFF"/>
                    </a:solidFill>
                  </a:tcPr>
                </a:tc>
              </a:tr>
              <a:tr h="685800">
                <a:tc>
                  <a:txBody>
                    <a:bodyPr/>
                    <a:lstStyle/>
                    <a:p>
                      <a:pPr algn="l"/>
                      <a:r>
                        <a:rPr sz="1050">
                          <a:solidFill>
                            <a:srgbClr val="1F2937"/>
                          </a:solidFill>
                          <a:latin typeface="Calibri"/>
                        </a:rPr>
                        <a:t>V4</a:t>
                      </a:r>
                    </a:p>
                  </a:txBody>
                  <a:tcPr>
                    <a:solidFill>
                      <a:srgbClr val="F9FAFB"/>
                    </a:solidFill>
                  </a:tcPr>
                </a:tc>
                <a:tc>
                  <a:txBody>
                    <a:bodyPr/>
                    <a:lstStyle/>
                    <a:p>
                      <a:pPr algn="l"/>
                      <a:r>
                        <a:rPr sz="1050">
                          <a:solidFill>
                            <a:srgbClr val="1F2937"/>
                          </a:solidFill>
                          <a:latin typeface="Calibri"/>
                        </a:rPr>
                        <a:t>Closing &amp; Émission</a:t>
                      </a:r>
                    </a:p>
                  </a:txBody>
                  <a:tcPr>
                    <a:solidFill>
                      <a:srgbClr val="F9FAFB"/>
                    </a:solidFill>
                  </a:tcPr>
                </a:tc>
                <a:tc>
                  <a:txBody>
                    <a:bodyPr/>
                    <a:lstStyle/>
                    <a:p>
                      <a:pPr algn="l"/>
                      <a:r>
                        <a:rPr sz="1050">
                          <a:solidFill>
                            <a:srgbClr val="1F2937"/>
                          </a:solidFill>
                          <a:latin typeface="Calibri"/>
                        </a:rPr>
                        <a:t>Sentiment Analysis (Capacité 7) &amp; Intégration Signature/Core</a:t>
                      </a:r>
                    </a:p>
                  </a:txBody>
                  <a:tcPr>
                    <a:solidFill>
                      <a:srgbClr val="F9FAFB"/>
                    </a:solidFill>
                  </a:tcPr>
                </a:tc>
                <a:tc>
                  <a:txBody>
                    <a:bodyPr/>
                    <a:lstStyle/>
                    <a:p>
                      <a:pPr algn="r"/>
                      <a:r>
                        <a:rPr sz="1050">
                          <a:solidFill>
                            <a:srgbClr val="1F2937"/>
                          </a:solidFill>
                          <a:latin typeface="Calibri"/>
                        </a:rPr>
                        <a:t>Rapprocher le closing de l'automatisation 100%</a:t>
                      </a:r>
                    </a:p>
                  </a:txBody>
                  <a:tcPr>
                    <a:solidFill>
                      <a:srgbClr val="F9FAFB"/>
                    </a:solidFill>
                  </a:tcPr>
                </a:tc>
              </a:tr>
              <a:tr h="685800">
                <a:tc>
                  <a:txBody>
                    <a:bodyPr/>
                    <a:lstStyle/>
                    <a:p>
                      <a:pPr algn="l"/>
                      <a:r>
                        <a:rPr sz="1050">
                          <a:solidFill>
                            <a:srgbClr val="1F2937"/>
                          </a:solidFill>
                          <a:latin typeface="Calibri"/>
                        </a:rPr>
                        <a:t>V5-V7</a:t>
                      </a:r>
                    </a:p>
                  </a:txBody>
                  <a:tcPr>
                    <a:solidFill>
                      <a:srgbClr val="FFFFFF"/>
                    </a:solidFill>
                  </a:tcPr>
                </a:tc>
                <a:tc>
                  <a:txBody>
                    <a:bodyPr/>
                    <a:lstStyle/>
                    <a:p>
                      <a:pPr algn="l"/>
                      <a:r>
                        <a:rPr sz="1050">
                          <a:solidFill>
                            <a:srgbClr val="1F2937"/>
                          </a:solidFill>
                          <a:latin typeface="Calibri"/>
                        </a:rPr>
                        <a:t>Omnicanal Complet</a:t>
                      </a:r>
                    </a:p>
                  </a:txBody>
                  <a:tcPr>
                    <a:solidFill>
                      <a:srgbClr val="FFFFFF"/>
                    </a:solidFill>
                  </a:tcPr>
                </a:tc>
                <a:tc>
                  <a:txBody>
                    <a:bodyPr/>
                    <a:lstStyle/>
                    <a:p>
                      <a:pPr algn="l"/>
                      <a:r>
                        <a:rPr sz="1050">
                          <a:solidFill>
                            <a:srgbClr val="1F2937"/>
                          </a:solidFill>
                          <a:latin typeface="Calibri"/>
                        </a:rPr>
                        <a:t>Intégration Open Insurance, orchestration totale des campagnes</a:t>
                      </a:r>
                    </a:p>
                  </a:txBody>
                  <a:tcPr>
                    <a:solidFill>
                      <a:srgbClr val="FFFFFF"/>
                    </a:solidFill>
                  </a:tcPr>
                </a:tc>
                <a:tc>
                  <a:txBody>
                    <a:bodyPr/>
                    <a:lstStyle/>
                    <a:p>
                      <a:pPr algn="l"/>
                      <a:r>
                        <a:rPr sz="1050">
                          <a:solidFill>
                            <a:srgbClr val="1F2937"/>
                          </a:solidFill>
                          <a:latin typeface="Calibri"/>
                        </a:rPr>
                        <a:t>Écosystème prescriptif global</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6. Business Case &amp; Analyse de ROI</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14</a:t>
            </a:r>
          </a:p>
        </p:txBody>
      </p:sp>
      <p:graphicFrame>
        <p:nvGraphicFramePr>
          <p:cNvPr id="7" name="Table 6"/>
          <p:cNvGraphicFramePr>
            <a:graphicFrameLocks noGrp="1"/>
          </p:cNvGraphicFramePr>
          <p:nvPr/>
        </p:nvGraphicFramePr>
        <p:xfrm>
          <a:off x="548640" y="1645920"/>
          <a:ext cx="11094415" cy="4114800"/>
        </p:xfrm>
        <a:graphic>
          <a:graphicData uri="http://schemas.openxmlformats.org/drawingml/2006/table">
            <a:tbl>
              <a:tblPr firstRow="1" bandRow="1">
                <a:tableStyleId>{5C22544A-7EE6-4342-B048-85BDC9FD1C3A}</a:tableStyleId>
              </a:tblPr>
              <a:tblGrid>
                <a:gridCol w="2286000"/>
                <a:gridCol w="2286000"/>
                <a:gridCol w="2743200"/>
                <a:gridCol w="3779215"/>
              </a:tblGrid>
              <a:tr h="685800">
                <a:tc>
                  <a:txBody>
                    <a:bodyPr/>
                    <a:lstStyle/>
                    <a:p>
                      <a:pPr algn="l"/>
                      <a:r>
                        <a:rPr sz="1200" b="1">
                          <a:solidFill>
                            <a:srgbClr val="FFFFFF"/>
                          </a:solidFill>
                          <a:latin typeface="Arial"/>
                        </a:rPr>
                        <a:t>Indicateur Métier</a:t>
                      </a:r>
                    </a:p>
                  </a:txBody>
                  <a:tcPr>
                    <a:solidFill>
                      <a:srgbClr val="86318E"/>
                    </a:solidFill>
                  </a:tcPr>
                </a:tc>
                <a:tc>
                  <a:txBody>
                    <a:bodyPr/>
                    <a:lstStyle/>
                    <a:p>
                      <a:pPr algn="l"/>
                      <a:r>
                        <a:rPr sz="1200" b="1">
                          <a:solidFill>
                            <a:srgbClr val="FFFFFF"/>
                          </a:solidFill>
                          <a:latin typeface="Arial"/>
                        </a:rPr>
                        <a:t>Performance Actuelle</a:t>
                      </a:r>
                    </a:p>
                  </a:txBody>
                  <a:tcPr>
                    <a:solidFill>
                      <a:srgbClr val="86318E"/>
                    </a:solidFill>
                  </a:tcPr>
                </a:tc>
                <a:tc>
                  <a:txBody>
                    <a:bodyPr/>
                    <a:lstStyle/>
                    <a:p>
                      <a:pPr algn="l"/>
                      <a:r>
                        <a:rPr sz="1200" b="1">
                          <a:solidFill>
                            <a:srgbClr val="FFFFFF"/>
                          </a:solidFill>
                          <a:latin typeface="Arial"/>
                        </a:rPr>
                        <a:t>Objectif MVP (V1)</a:t>
                      </a:r>
                    </a:p>
                  </a:txBody>
                  <a:tcPr>
                    <a:solidFill>
                      <a:srgbClr val="86318E"/>
                    </a:solidFill>
                  </a:tcPr>
                </a:tc>
                <a:tc>
                  <a:txBody>
                    <a:bodyPr/>
                    <a:lstStyle/>
                    <a:p>
                      <a:pPr algn="l"/>
                      <a:r>
                        <a:rPr sz="1200" b="1">
                          <a:solidFill>
                            <a:srgbClr val="FFFFFF"/>
                          </a:solidFill>
                          <a:latin typeface="Arial"/>
                        </a:rPr>
                        <a:t>Impact Financier Estimé</a:t>
                      </a:r>
                    </a:p>
                  </a:txBody>
                  <a:tcPr>
                    <a:solidFill>
                      <a:srgbClr val="86318E"/>
                    </a:solidFill>
                  </a:tcPr>
                </a:tc>
              </a:tr>
              <a:tr h="685800">
                <a:tc>
                  <a:txBody>
                    <a:bodyPr/>
                    <a:lstStyle/>
                    <a:p>
                      <a:pPr algn="l"/>
                      <a:r>
                        <a:rPr sz="1050">
                          <a:solidFill>
                            <a:srgbClr val="1F2937"/>
                          </a:solidFill>
                          <a:latin typeface="Calibri"/>
                        </a:rPr>
                        <a:t>Volume annuel estimé</a:t>
                      </a:r>
                    </a:p>
                  </a:txBody>
                  <a:tcPr>
                    <a:solidFill>
                      <a:srgbClr val="FFFFFF"/>
                    </a:solidFill>
                  </a:tcPr>
                </a:tc>
                <a:tc>
                  <a:txBody>
                    <a:bodyPr/>
                    <a:lstStyle/>
                    <a:p>
                      <a:pPr algn="l"/>
                      <a:r>
                        <a:rPr sz="1050">
                          <a:solidFill>
                            <a:srgbClr val="1F2937"/>
                          </a:solidFill>
                          <a:latin typeface="Calibri"/>
                        </a:rPr>
                        <a:t>100 000 leads</a:t>
                      </a:r>
                    </a:p>
                  </a:txBody>
                  <a:tcPr>
                    <a:solidFill>
                      <a:srgbClr val="FFFFFF"/>
                    </a:solidFill>
                  </a:tcPr>
                </a:tc>
                <a:tc>
                  <a:txBody>
                    <a:bodyPr/>
                    <a:lstStyle/>
                    <a:p>
                      <a:pPr algn="l"/>
                      <a:r>
                        <a:rPr sz="1050">
                          <a:solidFill>
                            <a:srgbClr val="1F2937"/>
                          </a:solidFill>
                          <a:latin typeface="Calibri"/>
                        </a:rPr>
                        <a:t>100 000 leads</a:t>
                      </a:r>
                    </a:p>
                  </a:txBody>
                  <a:tcPr>
                    <a:solidFill>
                      <a:srgbClr val="FFFFFF"/>
                    </a:solidFill>
                  </a:tcPr>
                </a:tc>
                <a:tc>
                  <a:txBody>
                    <a:bodyPr/>
                    <a:lstStyle/>
                    <a:p>
                      <a:pPr algn="l"/>
                      <a:r>
                        <a:rPr sz="1050">
                          <a:solidFill>
                            <a:srgbClr val="1F2937"/>
                          </a:solidFill>
                          <a:latin typeface="Calibri"/>
                        </a:rPr>
                        <a:t>Base d'analyse</a:t>
                      </a:r>
                    </a:p>
                  </a:txBody>
                  <a:tcPr>
                    <a:solidFill>
                      <a:srgbClr val="FFFFFF"/>
                    </a:solidFill>
                  </a:tcPr>
                </a:tc>
              </a:tr>
              <a:tr h="685800">
                <a:tc>
                  <a:txBody>
                    <a:bodyPr/>
                    <a:lstStyle/>
                    <a:p>
                      <a:pPr algn="l"/>
                      <a:r>
                        <a:rPr sz="1050">
                          <a:solidFill>
                            <a:srgbClr val="1F2937"/>
                          </a:solidFill>
                          <a:latin typeface="Calibri"/>
                        </a:rPr>
                        <a:t>Taux de conversion lead</a:t>
                      </a:r>
                    </a:p>
                  </a:txBody>
                  <a:tcPr>
                    <a:solidFill>
                      <a:srgbClr val="F9FAFB"/>
                    </a:solidFill>
                  </a:tcPr>
                </a:tc>
                <a:tc>
                  <a:txBody>
                    <a:bodyPr/>
                    <a:lstStyle/>
                    <a:p>
                      <a:pPr algn="r"/>
                      <a:r>
                        <a:rPr sz="1050">
                          <a:solidFill>
                            <a:srgbClr val="1F2937"/>
                          </a:solidFill>
                          <a:latin typeface="Calibri"/>
                        </a:rPr>
                        <a:t>4.0%</a:t>
                      </a:r>
                    </a:p>
                  </a:txBody>
                  <a:tcPr>
                    <a:solidFill>
                      <a:srgbClr val="F9FAFB"/>
                    </a:solidFill>
                  </a:tcPr>
                </a:tc>
                <a:tc>
                  <a:txBody>
                    <a:bodyPr/>
                    <a:lstStyle/>
                    <a:p>
                      <a:pPr algn="r"/>
                      <a:r>
                        <a:rPr sz="1050">
                          <a:solidFill>
                            <a:srgbClr val="1F2937"/>
                          </a:solidFill>
                          <a:latin typeface="Calibri"/>
                        </a:rPr>
                        <a:t>5.5% (+1.5 pts)</a:t>
                      </a:r>
                    </a:p>
                  </a:txBody>
                  <a:tcPr>
                    <a:solidFill>
                      <a:srgbClr val="F9FAFB"/>
                    </a:solidFill>
                  </a:tcPr>
                </a:tc>
                <a:tc>
                  <a:txBody>
                    <a:bodyPr/>
                    <a:lstStyle/>
                    <a:p>
                      <a:pPr algn="l"/>
                      <a:r>
                        <a:rPr sz="1050">
                          <a:solidFill>
                            <a:srgbClr val="1F2937"/>
                          </a:solidFill>
                          <a:latin typeface="Calibri"/>
                        </a:rPr>
                        <a:t>+1 500 Ventes additionnelles / an</a:t>
                      </a:r>
                    </a:p>
                  </a:txBody>
                  <a:tcPr>
                    <a:solidFill>
                      <a:srgbClr val="F9FAFB"/>
                    </a:solidFill>
                  </a:tcPr>
                </a:tc>
              </a:tr>
              <a:tr h="685800">
                <a:tc>
                  <a:txBody>
                    <a:bodyPr/>
                    <a:lstStyle/>
                    <a:p>
                      <a:pPr algn="l"/>
                      <a:r>
                        <a:rPr sz="1050">
                          <a:solidFill>
                            <a:srgbClr val="1F2937"/>
                          </a:solidFill>
                          <a:latin typeface="Calibri"/>
                        </a:rPr>
                        <a:t>Coût d'Acquisition Client</a:t>
                      </a:r>
                    </a:p>
                  </a:txBody>
                  <a:tcPr>
                    <a:solidFill>
                      <a:srgbClr val="FFFFFF"/>
                    </a:solidFill>
                  </a:tcPr>
                </a:tc>
                <a:tc>
                  <a:txBody>
                    <a:bodyPr/>
                    <a:lstStyle/>
                    <a:p>
                      <a:pPr algn="r"/>
                      <a:r>
                        <a:rPr sz="1050">
                          <a:solidFill>
                            <a:srgbClr val="1F2937"/>
                          </a:solidFill>
                          <a:latin typeface="Calibri"/>
                        </a:rPr>
                        <a:t>50 €</a:t>
                      </a:r>
                    </a:p>
                  </a:txBody>
                  <a:tcPr>
                    <a:solidFill>
                      <a:srgbClr val="FFFFFF"/>
                    </a:solidFill>
                  </a:tcPr>
                </a:tc>
                <a:tc>
                  <a:txBody>
                    <a:bodyPr/>
                    <a:lstStyle/>
                    <a:p>
                      <a:pPr algn="r"/>
                      <a:r>
                        <a:rPr sz="1050">
                          <a:solidFill>
                            <a:srgbClr val="1F2937"/>
                          </a:solidFill>
                          <a:latin typeface="Calibri"/>
                        </a:rPr>
                        <a:t>35 € (-30%)</a:t>
                      </a:r>
                    </a:p>
                  </a:txBody>
                  <a:tcPr>
                    <a:solidFill>
                      <a:srgbClr val="FFFFFF"/>
                    </a:solidFill>
                  </a:tcPr>
                </a:tc>
                <a:tc>
                  <a:txBody>
                    <a:bodyPr/>
                    <a:lstStyle/>
                    <a:p>
                      <a:pPr algn="r"/>
                      <a:r>
                        <a:rPr sz="1050">
                          <a:solidFill>
                            <a:srgbClr val="1F2937"/>
                          </a:solidFill>
                          <a:latin typeface="Calibri"/>
                        </a:rPr>
                        <a:t>+1.5 M€ d'économies de budget marketing</a:t>
                      </a:r>
                    </a:p>
                  </a:txBody>
                  <a:tcPr>
                    <a:solidFill>
                      <a:srgbClr val="FFFFFF"/>
                    </a:solidFill>
                  </a:tcPr>
                </a:tc>
              </a:tr>
              <a:tr h="685800">
                <a:tc>
                  <a:txBody>
                    <a:bodyPr/>
                    <a:lstStyle/>
                    <a:p>
                      <a:pPr algn="l"/>
                      <a:r>
                        <a:rPr sz="1050">
                          <a:solidFill>
                            <a:srgbClr val="1F2937"/>
                          </a:solidFill>
                          <a:latin typeface="Calibri"/>
                        </a:rPr>
                        <a:t>Valeur Annuelle Créée</a:t>
                      </a:r>
                    </a:p>
                  </a:txBody>
                  <a:tcPr>
                    <a:solidFill>
                      <a:srgbClr val="F9FAFB"/>
                    </a:solidFill>
                  </a:tcPr>
                </a:tc>
                <a:tc>
                  <a:txBody>
                    <a:bodyPr/>
                    <a:lstStyle/>
                    <a:p>
                      <a:pPr algn="l"/>
                      <a:r>
                        <a:rPr sz="1050">
                          <a:solidFill>
                            <a:srgbClr val="1F2937"/>
                          </a:solidFill>
                          <a:latin typeface="Calibri"/>
                        </a:rPr>
                        <a:t>—</a:t>
                      </a:r>
                    </a:p>
                  </a:txBody>
                  <a:tcPr>
                    <a:solidFill>
                      <a:srgbClr val="F9FAFB"/>
                    </a:solidFill>
                  </a:tcPr>
                </a:tc>
                <a:tc>
                  <a:txBody>
                    <a:bodyPr/>
                    <a:lstStyle/>
                    <a:p>
                      <a:pPr algn="l"/>
                      <a:r>
                        <a:rPr sz="1050">
                          <a:solidFill>
                            <a:srgbClr val="1F2937"/>
                          </a:solidFill>
                          <a:latin typeface="Calibri"/>
                        </a:rPr>
                        <a:t>—</a:t>
                      </a:r>
                    </a:p>
                  </a:txBody>
                  <a:tcPr>
                    <a:solidFill>
                      <a:srgbClr val="F9FAFB"/>
                    </a:solidFill>
                  </a:tcPr>
                </a:tc>
                <a:tc>
                  <a:txBody>
                    <a:bodyPr/>
                    <a:lstStyle/>
                    <a:p>
                      <a:pPr algn="r"/>
                      <a:r>
                        <a:rPr sz="1050">
                          <a:solidFill>
                            <a:srgbClr val="1F2937"/>
                          </a:solidFill>
                          <a:latin typeface="Calibri"/>
                        </a:rPr>
                        <a:t>2 100 000 € / an cumulés</a:t>
                      </a:r>
                    </a:p>
                  </a:txBody>
                  <a:tcPr>
                    <a:solidFill>
                      <a:srgbClr val="F9FAFB"/>
                    </a:solidFill>
                  </a:tcPr>
                </a:tc>
              </a:tr>
              <a:tr h="685800">
                <a:tc>
                  <a:txBody>
                    <a:bodyPr/>
                    <a:lstStyle/>
                    <a:p>
                      <a:pPr algn="l"/>
                      <a:r>
                        <a:rPr sz="1050">
                          <a:solidFill>
                            <a:srgbClr val="1F2937"/>
                          </a:solidFill>
                          <a:latin typeface="Calibri"/>
                        </a:rPr>
                        <a:t>Seuil de Rentabilité</a:t>
                      </a:r>
                    </a:p>
                  </a:txBody>
                  <a:tcPr>
                    <a:solidFill>
                      <a:srgbClr val="FFFFFF"/>
                    </a:solidFill>
                  </a:tcPr>
                </a:tc>
                <a:tc>
                  <a:txBody>
                    <a:bodyPr/>
                    <a:lstStyle/>
                    <a:p>
                      <a:pPr algn="r"/>
                      <a:r>
                        <a:rPr sz="1050">
                          <a:solidFill>
                            <a:srgbClr val="1F2937"/>
                          </a:solidFill>
                          <a:latin typeface="Calibri"/>
                        </a:rPr>
                        <a:t>Budget MVP: 77 k€</a:t>
                      </a:r>
                    </a:p>
                  </a:txBody>
                  <a:tcPr>
                    <a:solidFill>
                      <a:srgbClr val="FFFFFF"/>
                    </a:solidFill>
                  </a:tcPr>
                </a:tc>
                <a:tc>
                  <a:txBody>
                    <a:bodyPr/>
                    <a:lstStyle/>
                    <a:p>
                      <a:pPr algn="l"/>
                      <a:r>
                        <a:rPr sz="1050">
                          <a:solidFill>
                            <a:srgbClr val="1F2937"/>
                          </a:solidFill>
                          <a:latin typeface="Calibri"/>
                        </a:rPr>
                        <a:t>Point Mort : 6,5 mois</a:t>
                      </a:r>
                    </a:p>
                  </a:txBody>
                  <a:tcPr>
                    <a:solidFill>
                      <a:srgbClr val="FFFFFF"/>
                    </a:solidFill>
                  </a:tcPr>
                </a:tc>
                <a:tc>
                  <a:txBody>
                    <a:bodyPr/>
                    <a:lstStyle/>
                    <a:p>
                      <a:pPr algn="l"/>
                      <a:r>
                        <a:rPr sz="1050">
                          <a:solidFill>
                            <a:srgbClr val="1F2937"/>
                          </a:solidFill>
                          <a:latin typeface="Calibri"/>
                        </a:rPr>
                        <a:t>Payback ultra-rapide sur gain de conversion</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65760"/>
          </a:xfrm>
          <a:prstGeom prst="rect">
            <a:avLst/>
          </a:prstGeom>
          <a:noFill/>
        </p:spPr>
        <p:txBody>
          <a:bodyPr wrap="square" lIns="0" tIns="0" bIns="0" rIns="0">
            <a:spAutoFit/>
          </a:bodyPr>
          <a:lstStyle/>
          <a:p>
            <a:pPr>
              <a:defRPr sz="950" b="1">
                <a:solidFill>
                  <a:srgbClr val="0D9488"/>
                </a:solidFill>
                <a:latin typeface="Arial"/>
              </a:defRPr>
            </a:pPr>
            <a:r>
              <a:t>DIGITAL SALES ACCELERATOR</a:t>
            </a:r>
          </a:p>
        </p:txBody>
      </p:sp>
      <p:sp>
        <p:nvSpPr>
          <p:cNvPr id="4" name="TextBox 3"/>
          <p:cNvSpPr txBox="1"/>
          <p:nvPr/>
        </p:nvSpPr>
        <p:spPr>
          <a:xfrm>
            <a:off x="548640" y="640080"/>
            <a:ext cx="10972800" cy="640080"/>
          </a:xfrm>
          <a:prstGeom prst="rect">
            <a:avLst/>
          </a:prstGeom>
          <a:noFill/>
        </p:spPr>
        <p:txBody>
          <a:bodyPr wrap="square" lIns="0" tIns="0" bIns="0" rIns="0">
            <a:spAutoFit/>
          </a:bodyPr>
          <a:lstStyle/>
          <a:p>
            <a:pPr>
              <a:defRPr sz="2400" b="1">
                <a:solidFill>
                  <a:srgbClr val="86318E"/>
                </a:solidFill>
                <a:latin typeface="Arial"/>
              </a:defRPr>
            </a:pPr>
            <a:r>
              <a:t>7. Modèle de Livraison &amp; Gouvernance</a:t>
            </a:r>
          </a:p>
        </p:txBody>
      </p:sp>
      <p:sp>
        <p:nvSpPr>
          <p:cNvPr id="5" name="Rectangle 4"/>
          <p:cNvSpPr/>
          <p:nvPr/>
        </p:nvSpPr>
        <p:spPr>
          <a:xfrm>
            <a:off x="548640" y="1280160"/>
            <a:ext cx="1109441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11094415" cy="274320"/>
          </a:xfrm>
          <a:prstGeom prst="rect">
            <a:avLst/>
          </a:prstGeom>
          <a:noFill/>
        </p:spPr>
        <p:txBody>
          <a:bodyPr wrap="none" lIns="0" tIns="0" bIns="0" rIns="0">
            <a:spAutoFit/>
          </a:bodyPr>
          <a:lstStyle/>
          <a:p>
            <a:pPr algn="r">
              <a:defRPr sz="850">
                <a:solidFill>
                  <a:srgbClr val="6B7280"/>
                </a:solidFill>
                <a:latin typeface="Arial"/>
              </a:defRPr>
            </a:pPr>
            <a:r>
              <a:t>Ekinox Consulting  |  Proposition de Transformation  |  Confidentialité SanlamAllianz  |  Slide 15</a:t>
            </a:r>
          </a:p>
        </p:txBody>
      </p:sp>
      <p:sp>
        <p:nvSpPr>
          <p:cNvPr id="7" name="Rectangle 6"/>
          <p:cNvSpPr/>
          <p:nvPr/>
        </p:nvSpPr>
        <p:spPr>
          <a:xfrm>
            <a:off x="548640"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73152" cy="438912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37760" cy="4023360"/>
          </a:xfrm>
          <a:prstGeom prst="rect">
            <a:avLst/>
          </a:prstGeom>
          <a:noFill/>
        </p:spPr>
        <p:txBody>
          <a:bodyPr wrap="square">
            <a:spAutoFit/>
          </a:bodyPr>
          <a:lstStyle/>
          <a:p>
            <a:pPr>
              <a:spcAft>
                <a:spcPts val="1400"/>
              </a:spcAft>
              <a:defRPr sz="1400" b="1">
                <a:solidFill>
                  <a:srgbClr val="86318E"/>
                </a:solidFill>
                <a:latin typeface="Arial"/>
              </a:defRPr>
            </a:pPr>
            <a:r>
              <a:t>GOUVERNANCE &amp; MÉTHODE AGILE</a:t>
            </a:r>
          </a:p>
          <a:p>
            <a:pPr>
              <a:lnSpc>
                <a:spcPct val="115000"/>
              </a:lnSpc>
              <a:spcAft>
                <a:spcPts val="800"/>
              </a:spcAft>
              <a:defRPr sz="1100">
                <a:solidFill>
                  <a:srgbClr val="1F2937"/>
                </a:solidFill>
                <a:latin typeface="Calibri"/>
              </a:defRPr>
            </a:pPr>
            <a:r>
              <a:t>• Comité de pilotage bimensuel (COMOP) pour arbitrer les jalons fonctionnels.</a:t>
            </a:r>
          </a:p>
          <a:p>
            <a:pPr>
              <a:lnSpc>
                <a:spcPct val="115000"/>
              </a:lnSpc>
              <a:spcAft>
                <a:spcPts val="800"/>
              </a:spcAft>
              <a:defRPr sz="1100">
                <a:solidFill>
                  <a:srgbClr val="1F2937"/>
                </a:solidFill>
                <a:latin typeface="Calibri"/>
              </a:defRPr>
            </a:pPr>
            <a:r>
              <a:t>• Ateliers de cadrage hebdomadaires avec les équipes sécurité, data et marketing.</a:t>
            </a:r>
          </a:p>
          <a:p>
            <a:pPr>
              <a:lnSpc>
                <a:spcPct val="115000"/>
              </a:lnSpc>
              <a:spcAft>
                <a:spcPts val="800"/>
              </a:spcAft>
              <a:defRPr sz="1100">
                <a:solidFill>
                  <a:srgbClr val="1F2937"/>
                </a:solidFill>
                <a:latin typeface="Calibri"/>
              </a:defRPr>
            </a:pPr>
            <a:r>
              <a:t>• Organisation Scrum en sprints de 2 semaines avec démos régulières.</a:t>
            </a:r>
          </a:p>
          <a:p>
            <a:pPr>
              <a:lnSpc>
                <a:spcPct val="115000"/>
              </a:lnSpc>
              <a:spcAft>
                <a:spcPts val="800"/>
              </a:spcAft>
              <a:defRPr sz="1100">
                <a:solidFill>
                  <a:srgbClr val="1F2937"/>
                </a:solidFill>
                <a:latin typeface="Calibri"/>
              </a:defRPr>
            </a:pPr>
            <a:r>
              <a:t>• Cadrage et spécifications détaillées sur les 2 premières semaines.</a:t>
            </a:r>
          </a:p>
        </p:txBody>
      </p:sp>
      <p:sp>
        <p:nvSpPr>
          <p:cNvPr id="10" name="Rectangle 9"/>
          <p:cNvSpPr/>
          <p:nvPr/>
        </p:nvSpPr>
        <p:spPr>
          <a:xfrm>
            <a:off x="6339535" y="1645920"/>
            <a:ext cx="5303520" cy="438912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9535" y="164592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828800"/>
            <a:ext cx="4937760" cy="4023360"/>
          </a:xfrm>
          <a:prstGeom prst="rect">
            <a:avLst/>
          </a:prstGeom>
          <a:noFill/>
        </p:spPr>
        <p:txBody>
          <a:bodyPr wrap="square">
            <a:spAutoFit/>
          </a:bodyPr>
          <a:lstStyle/>
          <a:p>
            <a:pPr>
              <a:spcAft>
                <a:spcPts val="1400"/>
              </a:spcAft>
              <a:defRPr sz="1400" b="1">
                <a:solidFill>
                  <a:srgbClr val="0D9488"/>
                </a:solidFill>
                <a:latin typeface="Arial"/>
              </a:defRPr>
            </a:pPr>
            <a:r>
              <a:t>CONDITIONS DE SUCCÈS CLÉS (SANLAMALLIANZ)</a:t>
            </a:r>
          </a:p>
          <a:p>
            <a:pPr>
              <a:lnSpc>
                <a:spcPct val="110000"/>
              </a:lnSpc>
              <a:spcAft>
                <a:spcPts val="600"/>
              </a:spcAft>
              <a:defRPr sz="1050">
                <a:solidFill>
                  <a:srgbClr val="1F2937"/>
                </a:solidFill>
                <a:latin typeface="Calibri"/>
              </a:defRPr>
            </a:pPr>
            <a:r>
              <a:t>• Validation rapide du pays pilote et de l'entité locale (Auto retail).</a:t>
            </a:r>
          </a:p>
          <a:p>
            <a:pPr>
              <a:lnSpc>
                <a:spcPct val="110000"/>
              </a:lnSpc>
              <a:spcAft>
                <a:spcPts val="600"/>
              </a:spcAft>
              <a:defRPr sz="1050">
                <a:solidFill>
                  <a:srgbClr val="1F2937"/>
                </a:solidFill>
                <a:latin typeface="Calibri"/>
              </a:defRPr>
            </a:pPr>
            <a:r>
              <a:t>• Mise à disposition des documents de garanties, exclusions et FAQ en format PDF.</a:t>
            </a:r>
          </a:p>
          <a:p>
            <a:pPr>
              <a:lnSpc>
                <a:spcPct val="110000"/>
              </a:lnSpc>
              <a:spcAft>
                <a:spcPts val="600"/>
              </a:spcAft>
              <a:defRPr sz="1050">
                <a:solidFill>
                  <a:srgbClr val="1F2937"/>
                </a:solidFill>
                <a:latin typeface="Calibri"/>
              </a:defRPr>
            </a:pPr>
            <a:r>
              <a:t>• Accès sandbox aux comptes Meta Business Manager et API WhatsApp Business.</a:t>
            </a:r>
          </a:p>
          <a:p>
            <a:pPr>
              <a:lnSpc>
                <a:spcPct val="110000"/>
              </a:lnSpc>
              <a:spcAft>
                <a:spcPts val="600"/>
              </a:spcAft>
              <a:defRPr sz="1050">
                <a:solidFill>
                  <a:srgbClr val="1F2937"/>
                </a:solidFill>
                <a:latin typeface="Calibri"/>
              </a:defRPr>
            </a:pPr>
            <a:r>
              <a:t>• Désignation d'un référent conformité RGPD dès le lancement.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631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1371600"/>
          </a:xfrm>
          <a:prstGeom prst="rect">
            <a:avLst/>
          </a:prstGeom>
          <a:noFill/>
        </p:spPr>
        <p:txBody>
          <a:bodyPr wrap="none">
            <a:spAutoFit/>
          </a:bodyPr>
          <a:lstStyle/>
          <a:p>
            <a:pPr algn="ctr">
              <a:defRPr sz="3600" b="1">
                <a:solidFill>
                  <a:srgbClr val="FFFFFF"/>
                </a:solidFill>
                <a:latin typeface="Arial"/>
              </a:defRPr>
            </a:pPr>
            <a:r>
              <a:t>Merci pour votre confiance</a:t>
            </a:r>
          </a:p>
          <a:p>
            <a:pPr algn="ctr">
              <a:spcBef>
                <a:spcPts val="1200"/>
              </a:spcBef>
              <a:defRPr sz="1600">
                <a:solidFill>
                  <a:srgbClr val="0D9488"/>
                </a:solidFill>
                <a:latin typeface="Arial"/>
              </a:defRPr>
            </a:pPr>
            <a:r>
              <a:t>Co-construisons le futur de l'assurance chez SanlamAllianz</a:t>
            </a:r>
          </a:p>
        </p:txBody>
      </p:sp>
      <p:sp>
        <p:nvSpPr>
          <p:cNvPr id="4" name="TextBox 3"/>
          <p:cNvSpPr txBox="1"/>
          <p:nvPr/>
        </p:nvSpPr>
        <p:spPr>
          <a:xfrm>
            <a:off x="914400" y="5303520"/>
            <a:ext cx="10362895" cy="731520"/>
          </a:xfrm>
          <a:prstGeom prst="rect">
            <a:avLst/>
          </a:prstGeom>
          <a:noFill/>
        </p:spPr>
        <p:txBody>
          <a:bodyPr wrap="none">
            <a:spAutoFit/>
          </a:bodyPr>
          <a:lstStyle/>
          <a:p>
            <a:pPr algn="ctr">
              <a:defRPr sz="1100">
                <a:solidFill>
                  <a:srgbClr val="F9FAFB"/>
                </a:solidFill>
                <a:latin typeface="Calibri"/>
              </a:defRPr>
            </a:pPr>
            <a:r>
              <a:t>Ekinox Consulting Team  |  contact@ekinox.io  |  Projet Pilote Accelerator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