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5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1. Alignement Stratégique &amp; Positionnement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La maîtrise du loss ratio est le premier levier de rentabilité technique de SanlamAllianz.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La Fraud Intelligence Platform permet de systématiser la détection des anomalies, d'optimiser le temps des enquêteurs via des alertes explicitables, et d'organiser la capitalisation continue des nouveaux modus operandi.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303520" cy="11887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64008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6318E"/>
                </a:solidFill>
                <a:latin typeface="Arial"/>
              </a:defRPr>
            </a:pPr>
            <a:r>
              <a:t>DÉTECTION PRÉCOCE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Fast-track des dossiers sains et priorisation automatique des alertes suspectes selon leur montant financier.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3108960"/>
            <a:ext cx="5303520" cy="11887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39535" y="3108960"/>
            <a:ext cx="64008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246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6318E"/>
                </a:solidFill>
                <a:latin typeface="Arial"/>
              </a:defRPr>
            </a:pPr>
            <a:r>
              <a:t>EXPLICABILITÉ (EXPLAINABLE AI)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Justification textuelle claire de chaque score de fraude pour accompagner la décision humaine.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9535" y="4572000"/>
            <a:ext cx="5303520" cy="11887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9535" y="4572000"/>
            <a:ext cx="64008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4709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6318E"/>
                </a:solidFill>
                <a:latin typeface="Arial"/>
              </a:defRPr>
            </a:pPr>
            <a:r>
              <a:t>BOUCLE DE CAPITALISATION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Chaque dossier résolu enrichit automatiquement le moteur de règles pour améliorer les futures détections.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2. Product Blueprint &amp; Principes Directeurs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i="1">
                <a:solidFill>
                  <a:srgbClr val="1F2937"/>
                </a:solidFill>
                <a:latin typeface="Calibri"/>
              </a:defRPr>
            </a:pPr>
            <a:r>
              <a:t>Le développement de la plateforme anti-fraude repose sur des principes clairs de traçabilité, d'aide à la décision et d'évolution modulaire.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20440" cy="20116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" cy="201168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86318E"/>
                </a:solidFill>
                <a:latin typeface="Arial"/>
              </a:defRPr>
            </a:pPr>
            <a:r>
              <a:t>BUSINESS FIRST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L'objectif principal est de réduire la charge sinistre et d'optimiser le temps des gestionnaires.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920240"/>
            <a:ext cx="3520440" cy="20116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1920240"/>
            <a:ext cx="54864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20574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D9488"/>
                </a:solidFill>
                <a:latin typeface="Arial"/>
              </a:defRPr>
            </a:pPr>
            <a:r>
              <a:t>API-READY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Capacité à ingérer des flux de sinistres en temps réel ou en batch depuis les systèmes core de gestion.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920240"/>
            <a:ext cx="3520440" cy="20116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2" y="1920240"/>
            <a:ext cx="54864" cy="201168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20574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86318E"/>
                </a:solidFill>
                <a:latin typeface="Arial"/>
              </a:defRPr>
            </a:pPr>
            <a:r>
              <a:t>MVP BY DESIGN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Concentration initiale sur les lignes d'affaires les plus à risque (ex: Auto) avant extension globale.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3520440" cy="20116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54864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D9488"/>
                </a:solidFill>
                <a:latin typeface="Arial"/>
              </a:defRPr>
            </a:pPr>
            <a:r>
              <a:t>AI AS AN ENABLER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L'IA ne remplace pas l'investigateur humain, elle pointe les anomalies pour accélérer sa prise de décision.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256" y="4160520"/>
            <a:ext cx="3520440" cy="20116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4256" y="4160520"/>
            <a:ext cx="54864" cy="201168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1416" y="42976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86318E"/>
                </a:solidFill>
                <a:latin typeface="Arial"/>
              </a:defRPr>
            </a:pPr>
            <a:r>
              <a:t>EXPLAINABILITY BY DEFAULT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Aucune alerte de fraude n'est levée sans une justification lisible et opposable.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160520"/>
            <a:ext cx="3520440" cy="20116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19872" y="4160520"/>
            <a:ext cx="54864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2" y="42976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D9488"/>
                </a:solidFill>
                <a:latin typeface="Arial"/>
              </a:defRPr>
            </a:pPr>
            <a:r>
              <a:t>SCALABLE PLATFORM</a:t>
            </a:r>
          </a:p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Calibri"/>
              </a:defRPr>
            </a:pPr>
            <a:r>
              <a:t>Architecture conçue pour traiter des volumes massifs de données historiques et temps réel de manière sécurisée.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3. Architecture Technique &amp; Socle Commun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ARCHITECTURE APPLICATIVE MODULAIRE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Une plateforme de scoring et d'investigation, couplant des règles métier déterministes à des capacités d'analyse cognitive de données non structurées.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Intégration SI : Récupération asynchrone des données de sinistres, découplée de la chaîne de paiement critique en MVP.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COMPOSANTS TECHNOLOGIQUES CLÉS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Moteur de scoring hybride, Interface d'investigation métier, Base de connaissances fraude, Module d'explicabilité.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4.1 Capacité : Fraud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La mémoire institutionnelle de lutte anti-fraude, digitalisée et accessible.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Centralise les schémas de fraude connus, les modus operandi et les cas de jurisprudence.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Lorsqu'un nouveau type d'arnaque au bris de glace est identifié, il est documenté et sert de référence pour la détection future.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Augmentation immédiate du niveau de compétence de tous les gestionnaires face à des fraudes complexes.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Historique des cas avérés de fraude, fiches de typologies de fraude, rapports d'experts.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Système de gestion de contenu structuré, moteur de recherche sémantique.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de recherche de typologies, API d'ajout de cas de référence.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Nettoyage de l'historique des cas de fraude, modélisation des schémas, indexation de la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4.2 Capacité : Fraud Detection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Un bouclier intelligent qui analyse chaque sinistre déclaré.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Automatise le tri des sinistres pour séparer les cas légitimes des cas suspects nécessitant une investigation.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Le moteur score un sinistre avec une forte probabilité de légitimité, permettant un règlement instantané (Fast-Track).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Règlement plus rapide pour les bons clients et blocage préventif des paiements suspects.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Données structurées du sinistre (date, lieu, montants), historique du client.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Moteur de règles métier (Drools/Python), composant d'analyse de texte (NLP).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de scoring de sinistre.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Définition des règles métier de premier niveau, implémentation de l'algorithme de tri, création du pipeline de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4.3 Capacité : Fraud Investigation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Le bureau digital de l'investigateur anti-fraude.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Fournit une vue à 360 degrés du dossier suspect, regroupant la chronologie, les pièces et les notes d'analyse.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L'investigateur accède à une interface centralisant la déclaration de sinistre, les photos du véhicule et les alertes du système.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Gain de productivité massif dans l'instruction des dossiers suspects, décisions plus fiables.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Données complètes du dossier de sinistre, historique des interactions, documents joints.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Interface web dédiée, module de gestion de workflow.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d'accès au dossier complet, API de mise à jour de statut.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Création du tableau de bord de l'investigateur, développement de la timeline du sinistre, gestion des statuts de dossier.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4.4 Capacité : Fraud Network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Révéler les liens invisibles entre les acteurs d'une fraude organisée.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Visualise les connexions entre différents sinistres, assurés, experts ou garages pour détecter les réseaux de fraude.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L'interface met en évidence qu'un même numéro de téléphone est lié à trois sinistres différents déclarés par des personnes distinctes.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Démantèlement de réseaux de fraude organisée, générant des économies d'échelle majeures.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Base de données clients et sinistres étendue, identifiants partagés (téléphone, IBAN, adresses).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Base de données graphe légère, bibliothèque de visualisation de graphes (ex: D3.js, Cytoscape).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d'extraction de sous-graphes.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Modélisation des données en noeuds (personnes, véhicules) et relations, développement du visualiseur interactif.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4.5 Capacité : Explainable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La confiance naît de la transparence et de l'explication.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Justifie en langage clair et factuel chaque alerte de fraude remontée par le système.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Le système indique qu'une alerte est levée car : 1. La déclaration a eu lieu 2 heures après la souscription, 2. La facture du garage semble altérée.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Adoption de l'outil par les équipes métier, justification solide en cas de contentieux avec l'assuré.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Poids des règles déclenchées, extraits de textes pertinents ayant généré l'alerte.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Générateur de textes à partir de templates, module de traçabilité des décisions.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de génération d'explications de score.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Mapping entre règles déclenchées et explications textuelles, mise en évidence des éléments de preuve dans l'interface.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4.6 Capacité : Case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Allouer le temps des experts là où l'enjeu financier est maximal.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Trie automatiquement la file de travail des investigateurs selon la probabilité de fraude et l'enjeu financier du sinistre.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En début de journée, le gestionnaire voit en haut de sa liste un dossier suspect d'incendie estimé à 50 000€, avant les petits accrochages.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Optimisation drastique du Retour sur Investissement du temps passé par les équipes de contrôle.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Montant estimé du sinistre, score de probabilité de fraude.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File de traitement priorisée, algorithmes de tri dynamiques.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de récupération de la liste de travail ordonnée.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Définition de la matrice criticité/probabilité, implémentation du système de tri dans le Workspace.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4.7 Capacité : Investigation Cockpit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CADRAGE CLIENT &amp; VALEUR MÉTIER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Vision &amp; Objectif :</a:t>
            </a:r>
            <a:br/>
            <a:r>
              <a:t>Le pilotage stratégique de la lutte anti-fraude en temps réel.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Valeur Métier :</a:t>
            </a:r>
            <a:br/>
            <a:r>
              <a:t>Fournit des indicateurs de performance (KPIs) sur les dossiers traités, les montants sauvés et l'efficacité des équipes.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Cas d'Usage Enquêteur :</a:t>
            </a:r>
            <a:br/>
            <a:r>
              <a:t>Le directeur indemnisation visualise qu'en un mois, l'outil a permis d'économiser 200 000€ sur les sinistres automobiles.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Impact Utilisateur :</a:t>
            </a:r>
            <a:br/>
            <a:r>
              <a:t>Visibilité totale sur le ROI de la plateforme et facilitation du reporting à la direction générale.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FICHE IMPLÉMENTATION INTERNE (MVP)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Données Nécessaires MVP :</a:t>
            </a:r>
            <a:br/>
            <a:r>
              <a:t>Statuts de clôture des dossiers suspects, montants initiaux provisionnés vs montants payés réels.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Stack Technique MVP :</a:t>
            </a:r>
            <a:br/>
            <a:r>
              <a:t>Module de Business Intelligence basique, tableaux de bord de reporting.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APIs &amp; Services :</a:t>
            </a:r>
            <a:br/>
            <a:r>
              <a:t>API d'agrégation de métriques globales.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Étapes Clés de Développement :</a:t>
            </a:r>
            <a:br/>
            <a:r>
              <a:t>Définition des KPIs clés, développement des graphiques de synthèse (taux de détection, montants économisés).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5. Roadmap Produit &amp; Boucle de Capitalisation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Objectifs &amp; Périmètre Fonctionnel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Actions &amp; Livrables Clés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Valeur Métier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Fast-Track &amp; Tri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Détection des anomalies (Capacité 2) sur Auto matériel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Fast-track immédiat des dossiers sains (OPEX)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Investigation Workspace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Explainable AI (Capacité 5) et Timeline des dossiers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Réduction du temps de traitement des enquêtes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Réseaux &amp;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Fraud Network Explorer (Capacité 4) &amp; Knowledge Base (Capacité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Détection des fraudes organisées (garagistes, courtiers)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Boucle de capitalisation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Feedback loop (Capacité 7) &amp; réentraînement semi-automatisé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Auto-amélioration du taux de détection avec le temps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6. Business Case &amp; Analyse de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Métrique ROI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Référence Actuelle (SanlamAllianz)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Cible MVP (V1)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Gains Directs Annuels</a:t>
                      </a:r>
                    </a:p>
                  </a:txBody>
                  <a:tcPr>
                    <a:solidFill>
                      <a:srgbClr val="863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Charge Sinistre Annuelle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100 000 000 €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98 500 000 €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1,5 M€ de pertes fraude évitées (-30% fuite)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Faux Positifs de scoring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&lt;15.0%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Productivité : qualification 2x plus rapide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Tri Fast-Track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Manuel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25% de tri automatisé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500 k€ d'OPEX économisés en 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Total Gains Générés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2 000 000 € / an cumulés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Temps de retour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Budget MVP: 60 k€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Point Mort : 5 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Rentabilité démontrée dès le 1er trimestre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FRAUD INTELLIGENCE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86318E"/>
                </a:solidFill>
                <a:latin typeface="Arial"/>
              </a:defRPr>
            </a:pPr>
            <a:r>
              <a:t>7. Modèle de Livraison &amp; Gouvernance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B7280"/>
                </a:solidFill>
                <a:latin typeface="Arial"/>
              </a:defRPr>
            </a:pPr>
            <a:r>
              <a:t>Ekinox Consulting  |  Proposition de Transformation  |  Confidentialité SanlamAllianz  |  Slide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4389120"/>
          </a:xfrm>
          <a:prstGeom prst="rect">
            <a:avLst/>
          </a:prstGeom>
          <a:solidFill>
            <a:srgbClr val="863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6318E"/>
                </a:solidFill>
                <a:latin typeface="Arial"/>
              </a:defRPr>
            </a:pPr>
            <a:r>
              <a:t>GOUVERNANCE PROJET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Comité de pilotage mensuel avec la direction technique et sinistres.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Ateliers bi-hebdomadaires avec les gestionnaires fraude (boucle métier).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Validation conjointe de la conformité RGPD et des critères de tri d'alertes.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Durée indicative du MVP : 8 à 10 semaines.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535" y="1645920"/>
            <a:ext cx="5303520" cy="4389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9535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2415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CONDITIONS DE SUCCÈS CLÉS (SANLAMALLIANZ)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Extraction rapide d'un historique de sinistres qualifiés (sains et fraudes).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Accès aux bases de données des sinistres et des garages partenaires.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Disponibilité de 2 enquêteurs fraude seniors pour calibrer le workspace.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Implication active des équipes IT/Data pour les connecteurs d'extraction.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2098</Words>
  <Application>Microsoft Office PowerPoint</Application>
  <PresentationFormat>Widescreen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BOUSSOFFARA HEITHEM</cp:lastModifiedBy>
  <cp:revision>3</cp:revision>
  <dcterms:created xsi:type="dcterms:W3CDTF">2013-01-27T09:14:16Z</dcterms:created>
  <dcterms:modified xsi:type="dcterms:W3CDTF">2026-07-28T09:30:25Z</dcterms:modified>
  <cp:category/>
</cp:coreProperties>
</file>